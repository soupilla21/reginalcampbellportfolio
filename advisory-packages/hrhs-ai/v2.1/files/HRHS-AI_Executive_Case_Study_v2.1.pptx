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Dilemma" id="{bb0a1278-8353-f041-7141-2eacac89094c}">
          <p14:sldIdLst>
            <p14:sldId id="256"/>
          </p14:sldIdLst>
        </p14:section>
        <p14:section name="Evidence" id="{411f2cde-d8d8-4dae-7e9f-0b2a7f25208b}">
          <p14:sldIdLst>
            <p14:sldId id="257"/>
          </p14:sldIdLst>
        </p14:section>
        <p14:section name="Options" id="{c0d60027-6d2c-e438-65c9-db683f7bb191}">
          <p14:sldIdLst>
            <p14:sldId id="258"/>
          </p14:sldIdLst>
        </p14:section>
        <p14:section name="Engineering Reality" id="{4c30096d-0412-4857-1329-029c341c9782}">
          <p14:sldIdLst>
            <p14:sldId id="259"/>
          </p14:sldIdLst>
        </p14:section>
        <p14:section name="Outcomes" id="{c4a02ddc-635a-b436-d725-b8fdfd010c65}">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Fictional case: a six-hospital regional system, 1.2% margin. All data are simulated; I built this to show method, not a real engagement.
- Left side is the pull: real money in supply chain and denials, and departments already moving on AI.
- Right side is the brake: capacity is 92% committed, and the constraint is specialist skills, not total hours.
- The decision is two-part: the approach, and what we can genuinely commit to.
ASSUMPTIONS TO NAME IF ASKED
- $4.5M provisional envelope (A-01); 30-50% preventable denials (A-03); on-contract 71% (A-02).
LIKELY CHALLENGE
- "Why not just buy a tool?" That is Option A, and it is legitimate; slide 3.
REFERENCES: HRHS-AI-01 Issue Brief; HRHS-AI-02 F-01, F-04, F-08.
TRANSITION: Before choosing, separate what we know from what we are assuming.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Four findings drive the decision; the rest of the assessment is supporting detail.
- Two are "act now" items regardless of strategy: governance and P-01's patient-data terms. Note the precision: the P-01 finding is an unresolved vendor risk, not a confirmed violation. Nobody has reviewed the terms; that is exactly why it is urgent before the January 31 renewal.
- Data readiness tells us where to start (supply chain) and why to sequence UC-02.
- The capacity finding is the one that turns a strategy into a commitment question.
ASSUMPTIONS
- Status column separates simulated certainty from what a real organization would still need to prove.
LIKELY CHALLENGE
- "How confident are you?" Confident in the logic; the numbers are simulated and every one has a validation owner and date.
REFERENCES: HRHS-AI-02 readiness matrix and capacity table; HRHS-AI-03 V-01 to V-07.
TRANSITION: Given this evidence, three paths are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All three are legitimate. A is not the "cheap wrong answer"; on three-year quantified financials it is about $1.4M cheaper than B.
- Every option has to meet the same privacy, security, and contractual obligations. That floor is not what separates them.
- B is provisionally preferred for what it adds beyond the floor: reusable controls, consistent risk evaluation, shared technical capabilities, less duplication across later use cases.
- That premium is only worth paying if there is a real pipeline and the specialists can be released.
- C is the best foundation but asks for capacity HRHS does not have and defers value into 2028.
ANALYTICAL ASSUMPTIONS
- Eleven weighted criteria; ratings are judgments. I re-rated A twice against my own earlier work: on cost (A is cheapest over three years) and on safety (A meets the same mandatory controls, so the gap is assurance consistency, one point, not two). B's lead fell from 0.31 to 0.09.
- Sensitivity: about 3 weight points from safety to speed flips it to A; with no pipeline beyond Wave 1, A wins outright.
- Low-case benefits do not repay any option within three years. That is stated, not hidden.
LIKELY CHALLENGES
- "Aren't you just protecting B?" No: I re-rated it down myself, and I show the exact conditions that make A right.
- "Benefits?" UC-02 $0.45M to $1.1M per year; denials $1.0M to $3.4M net, low confidence.
REFERENCES: HRHS-AI-03 scoring, sensitivity, three-year view; HRHS-AI-04.
TRANSITION: Even the right strategy fails if the organization cannot deliver it. This is where it gets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(aim for under two minutes)
- Hypothetical: leadership provisionally picked B. On Day 15 engineering managers submitted named allocations, which met the prerequisite. Validation against the ERP and EHR release calendars is where it broke: on Day 17 the ERP program updated its conversion plan, and on Day 18 I reconciled the plans and found 1,700 of 2,600 specialist hours unavailable in the window. I logged it and told the sponsor and CIO the same day, and held Wave 1 spend.
- Capacity has four states: planned, provisionally committed, validated, available in window. Plans fail when they treat the first two as the last.
- Three ways out. Option 1 is within Steering authority, reversible, and protects both go-lives, so I recommend it now and price option 3 in parallel for a Day 60 decision.
- I would not move ERP capacity without the ERP program confirming in writing that go-live is unaffected. That decision belongs to the ERP sponsor, not to me.
SUPPORTING DETAIL (HRHS-AI-08)
- Specialist hours, Days 1 to 120 (needed / available): ERP item-master 1,400 / 400; integration 600 / 300; security architecture 300 / 0; enterprise architecture 300 / 200.
- Wave 1 critical path: provisional allocation Day 15 &gt; validation Day 20 &gt; item-master remediation Days 31 to 58 &gt; UC-02 acceptance criteria Day 60 &gt; G3 ~Day 65. The AI gateway is off this path because Wave 1 uses no patient data; SIEM onboarding (DP-06) is planned for month 6.
- Conflicts: ERP phase 2 conversion to go-live ~Day 120 (freeze from Day 90); EHR cutover holds the security architect to month 5.
- Costs: option 1 neutral (~$0.2M of FY2027 spend shifts later; ~$0.1M to $0.25M less UC-02 savings in FY2027); option 2 neutral to AI budget, ERP impact needs a quote; option 3 +$0.35M one-time, +$0.12M per year from the $0.75M contingency.
- Authority: option 1 Steering Committee; option 2 ERP executive sponsor with CIO/CTO, ELT if a go-live moves; option 3 CFO with VP Supply Chain and CIO/CTO for architecture.
- Inputs due before Day 30: ERP impact assessment (Day 25), written release dates (Day 25), restated benefits (Day 28), vendor quotes (Day 45).
LIKELY CHALLENGES
- "Why not push engineering harder?" Compressing gates during release windows moves risk into ERP and EHR cutovers.
- "Doesn't this weaken Day 90 evidence?" Yes. UC-01 has no direct monetized benefit, so G4 also weighs P-02 and a restated case. If nothing works by Day 60, the conditions for Option A are met and I would say so.
TRANSITION: Once decided, how will leadership know it is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Six checkpoints in 90 days, each with a named decision owner. The Day 15 to 20 capacity check (allocate, then validate against ERP/EHR calendars) is the one most plans skip, and in this case it is where the conflict surfaced.
- Production is not promised by Day 90. A G3 no-go is a valid outcome.
- Value is measured against Finance-confirmed baselines; savings, revenue recovery, and risk reduction are reported separately.
- Escalation thresholds are agreed up front, so escalating is routine, not personal.
- Four outcomes at every gate: proceed, pivot, slow, or stop. Pivot includes switching to Option A if the evidence says so.
ASSUMPTIONS
- Tranche 2 ($2.25M) released only at G4 on evidence; contingency $0.75M held by CFO.
LIKELY CHALLENGES
- "Isn't this a lot of governance?" One monthly steering meeting on gate days, a biweekly risk board for higher-risk uses only, and a 30-minute weekly dependency review.
- "Who is accountable?" Business owners own value, engineering managers own delivery and estimates, I own the integrated plan and the honesty of the reporting.
REFERENCES: HRHS-AI-06 gates; HRHS-AI-07 scorecard and thresholds; HRHS-AI-09 (prep only).
TRANSITION TO DISCUSSION (in your own words)
The phased approach is my provisional recommendation, but it depends on leadership's investment priorities and engineering's ability to commit the necessary resources. If those conditions change, the recommendation should change with them. My responsibility is to make the tradeoffs visible and make sure the selected direction is executable.
Then invite challenge: "Where would you push back? I'm happy to walk through the case for Option A, or what happens if the ERP sponsor says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320040"/>
          </a:xfrm>
          <a:prstGeom prst="rect">
            <a:avLst/>
          </a:prstGeom>
          <a:noFill/>
          <a:ln/>
        </p:spPr>
        <p:txBody>
          <a:bodyPr wrap="square" rtlCol="0"/>
          <a:lstStyle>
            <a:lvl1pPr indent="0" marL="0">
              <a:buNone/>
              <a:defRPr lang="en-US" sz="1200" b="1"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A6270"/>
                </a:solidFill>
              </a:rPr>
              <a:t>HRHS Enterprise AI case study  |  Fictional healthcare scenario; all data simulated  |  Prepared by Reginal Campbell, PMP</a:t>
            </a:r>
            <a:endParaRPr lang="en-US" sz="1000" dirty="0"/>
          </a:p>
        </p:txBody>
      </p:sp>
      <p:sp>
        <p:nvSpPr>
          <p:cNvPr id="25" name="Slide Number Placeholder 0"/>
          <p:cNvSpPr>
            <a:spLocks noGrp="1"/>
          </p:cNvSpPr>
          <p:nvPr>
            <p:ph type="sldNum" sz="quarter" idx="4294967295"/>
          </p:nvPr>
        </p:nvSpPr>
        <p:spPr>
          <a:xfrm>
            <a:off x="1124712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0"/>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320040"/>
          </a:xfrm>
          <a:prstGeom prst="rect">
            <a:avLst/>
          </a:prstGeom>
          <a:noFill/>
          <a:ln/>
        </p:spPr>
        <p:txBody>
          <a:bodyPr wrap="square" lIns="0" tIns="0" rIns="0" bIns="0" rtlCol="0"/>
          <a:lstStyle/>
          <a:p>
            <a:pPr indent="0" marL="0">
              <a:buNone/>
            </a:pPr>
            <a:r>
              <a:rPr lang="en-US" sz="1200" b="1" dirty="0">
                <a:solidFill>
                  <a:schemeClr val="accent2"/>
                </a:solidFill>
              </a:rPr>
              <a:t>1  |  THE EXECUTIVE DILEMMA</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What decision must leadership make?</a:t>
            </a:r>
            <a:endParaRPr lang="en-US" sz="3200" dirty="0"/>
          </a:p>
        </p:txBody>
      </p:sp>
      <p:sp>
        <p:nvSpPr>
          <p:cNvPr id="4" name="Text 2"/>
          <p:cNvSpPr txBox="1"/>
          <p:nvPr/>
        </p:nvSpPr>
        <p:spPr>
          <a:xfrm>
            <a:off x="548640" y="1261872"/>
            <a:ext cx="11064240" cy="274320"/>
          </a:xfrm>
          <a:prstGeom prst="rect">
            <a:avLst/>
          </a:prstGeom>
          <a:noFill/>
          <a:ln/>
        </p:spPr>
        <p:txBody>
          <a:bodyPr wrap="square" lIns="0" tIns="0" rIns="0" bIns="0" rtlCol="0" anchor="ctr"/>
          <a:lstStyle/>
          <a:p>
            <a:pPr indent="0" marL="0">
              <a:buNone/>
            </a:pPr>
            <a:r>
              <a:rPr lang="en-US" sz="1200" i="1" dirty="0">
                <a:solidFill>
                  <a:srgbClr val="5A6270"/>
                </a:solidFill>
              </a:rPr>
              <a:t>HRHS Enterprise AI: From Strategic Decision to Engineering Execution  |  Fictional Healthcare Technology Advisory Case Study</a:t>
            </a:r>
            <a:endParaRPr lang="en-US" sz="1200" dirty="0"/>
          </a:p>
        </p:txBody>
      </p:sp>
      <p:sp>
        <p:nvSpPr>
          <p:cNvPr id="5" name="opportunity panel"/>
          <p:cNvSpPr/>
          <p:nvPr/>
        </p:nvSpPr>
        <p:spPr>
          <a:xfrm>
            <a:off x="548640" y="1691640"/>
            <a:ext cx="5257800" cy="3246120"/>
          </a:xfrm>
          <a:prstGeom prst="rect">
            <a:avLst/>
          </a:prstGeom>
          <a:solidFill>
            <a:srgbClr val="E6F2EF"/>
          </a:solidFill>
          <a:ln w="9525">
            <a:solidFill>
              <a:srgbClr val="E6F2EF"/>
            </a:solidFill>
            <a:prstDash val="solid"/>
          </a:ln>
        </p:spPr>
      </p:sp>
      <p:sp>
        <p:nvSpPr>
          <p:cNvPr id="6" name="constraint panel"/>
          <p:cNvSpPr/>
          <p:nvPr/>
        </p:nvSpPr>
        <p:spPr>
          <a:xfrm>
            <a:off x="6355080" y="1691640"/>
            <a:ext cx="5257800" cy="3246120"/>
          </a:xfrm>
          <a:prstGeom prst="rect">
            <a:avLst/>
          </a:prstGeom>
          <a:solidFill>
            <a:srgbClr val="FBEFE3"/>
          </a:solidFill>
          <a:ln w="9525">
            <a:solidFill>
              <a:srgbClr val="FBEFE3"/>
            </a:solidFill>
            <a:prstDash val="solid"/>
          </a:ln>
        </p:spPr>
      </p:sp>
      <p:sp>
        <p:nvSpPr>
          <p:cNvPr id="7" name="Text 5"/>
          <p:cNvSpPr txBox="1"/>
          <p:nvPr/>
        </p:nvSpPr>
        <p:spPr>
          <a:xfrm>
            <a:off x="822960" y="1828800"/>
            <a:ext cx="4754880" cy="320040"/>
          </a:xfrm>
          <a:prstGeom prst="rect">
            <a:avLst/>
          </a:prstGeom>
          <a:noFill/>
          <a:ln/>
        </p:spPr>
        <p:txBody>
          <a:bodyPr wrap="square" lIns="0" tIns="0" rIns="0" bIns="0" rtlCol="0" anchor="ctr"/>
          <a:lstStyle/>
          <a:p>
            <a:pPr indent="0" marL="0">
              <a:buNone/>
            </a:pPr>
            <a:r>
              <a:rPr lang="en-US" sz="1400" b="1" dirty="0">
                <a:solidFill>
                  <a:srgbClr val="2E7D6E"/>
                </a:solidFill>
              </a:rPr>
              <a:t>THE OPPORTUNITY</a:t>
            </a:r>
            <a:endParaRPr lang="en-US" sz="1400" dirty="0"/>
          </a:p>
        </p:txBody>
      </p:sp>
      <p:sp>
        <p:nvSpPr>
          <p:cNvPr id="8" name="Text 6"/>
          <p:cNvSpPr txBox="1"/>
          <p:nvPr/>
        </p:nvSpPr>
        <p:spPr>
          <a:xfrm>
            <a:off x="6629400" y="1828800"/>
            <a:ext cx="4754880" cy="320040"/>
          </a:xfrm>
          <a:prstGeom prst="rect">
            <a:avLst/>
          </a:prstGeom>
          <a:noFill/>
          <a:ln/>
        </p:spPr>
        <p:txBody>
          <a:bodyPr wrap="square" lIns="0" tIns="0" rIns="0" bIns="0" rtlCol="0" anchor="ctr"/>
          <a:lstStyle/>
          <a:p>
            <a:pPr indent="0" marL="0">
              <a:buNone/>
            </a:pPr>
            <a:r>
              <a:rPr lang="en-US" sz="1400" b="1" dirty="0">
                <a:solidFill>
                  <a:srgbClr val="C2660A"/>
                </a:solidFill>
              </a:rPr>
              <a:t>THE CONSTRAINT</a:t>
            </a:r>
            <a:endParaRPr lang="en-US" sz="1400" dirty="0"/>
          </a:p>
        </p:txBody>
      </p:sp>
      <p:sp>
        <p:nvSpPr>
          <p:cNvPr id="9" name="Text 7"/>
          <p:cNvSpPr txBox="1"/>
          <p:nvPr/>
        </p:nvSpPr>
        <p:spPr>
          <a:xfrm>
            <a:off x="822960" y="2286000"/>
            <a:ext cx="2194560" cy="548640"/>
          </a:xfrm>
          <a:prstGeom prst="rect">
            <a:avLst/>
          </a:prstGeom>
          <a:noFill/>
          <a:ln/>
        </p:spPr>
        <p:txBody>
          <a:bodyPr wrap="square" lIns="0" tIns="0" rIns="0" bIns="0" rtlCol="0" anchor="ctr"/>
          <a:lstStyle/>
          <a:p>
            <a:pPr indent="0" marL="0">
              <a:buNone/>
            </a:pPr>
            <a:r>
              <a:rPr lang="en-US" sz="3000" b="1" dirty="0">
                <a:solidFill>
                  <a:srgbClr val="2E7D6E"/>
                </a:solidFill>
                <a:latin typeface="Cambria" pitchFamily="34" charset="0"/>
                <a:ea typeface="Cambria" pitchFamily="34" charset="-122"/>
                <a:cs typeface="Cambria" pitchFamily="34" charset="-120"/>
              </a:rPr>
              <a:t>$640M</a:t>
            </a:r>
            <a:endParaRPr lang="en-US" sz="3000" dirty="0"/>
          </a:p>
        </p:txBody>
      </p:sp>
      <p:sp>
        <p:nvSpPr>
          <p:cNvPr id="10" name="Text 8"/>
          <p:cNvSpPr txBox="1"/>
          <p:nvPr/>
        </p:nvSpPr>
        <p:spPr>
          <a:xfrm>
            <a:off x="3063240" y="2313432"/>
            <a:ext cx="2606040" cy="594360"/>
          </a:xfrm>
          <a:prstGeom prst="rect">
            <a:avLst/>
          </a:prstGeom>
          <a:noFill/>
          <a:ln/>
        </p:spPr>
        <p:txBody>
          <a:bodyPr wrap="square" lIns="0" tIns="0" rIns="0" bIns="0" rtlCol="0" anchor="ctr"/>
          <a:lstStyle/>
          <a:p>
            <a:pPr indent="0" marL="0">
              <a:buNone/>
            </a:pPr>
            <a:r>
              <a:rPr lang="en-US" sz="1400" dirty="0">
                <a:solidFill>
                  <a:srgbClr val="1B2430"/>
                </a:solidFill>
              </a:rPr>
              <a:t>annual supply spend; on-contract est. 71% vs 85% target</a:t>
            </a:r>
            <a:endParaRPr lang="en-US" sz="1400" dirty="0"/>
          </a:p>
        </p:txBody>
      </p:sp>
      <p:sp>
        <p:nvSpPr>
          <p:cNvPr id="11" name="Text 9"/>
          <p:cNvSpPr txBox="1"/>
          <p:nvPr/>
        </p:nvSpPr>
        <p:spPr>
          <a:xfrm>
            <a:off x="822960" y="3108960"/>
            <a:ext cx="2194560" cy="548640"/>
          </a:xfrm>
          <a:prstGeom prst="rect">
            <a:avLst/>
          </a:prstGeom>
          <a:noFill/>
          <a:ln/>
        </p:spPr>
        <p:txBody>
          <a:bodyPr wrap="square" lIns="0" tIns="0" rIns="0" bIns="0" rtlCol="0" anchor="ctr"/>
          <a:lstStyle/>
          <a:p>
            <a:pPr indent="0" marL="0">
              <a:buNone/>
            </a:pPr>
            <a:r>
              <a:rPr lang="en-US" sz="3000" b="1" dirty="0">
                <a:solidFill>
                  <a:srgbClr val="2E7D6E"/>
                </a:solidFill>
                <a:latin typeface="Cambria" pitchFamily="34" charset="0"/>
                <a:ea typeface="Cambria" pitchFamily="34" charset="-122"/>
                <a:cs typeface="Cambria" pitchFamily="34" charset="-120"/>
              </a:rPr>
              <a:t>$38M</a:t>
            </a:r>
            <a:endParaRPr lang="en-US" sz="3000" dirty="0"/>
          </a:p>
        </p:txBody>
      </p:sp>
      <p:sp>
        <p:nvSpPr>
          <p:cNvPr id="12" name="Text 10"/>
          <p:cNvSpPr txBox="1"/>
          <p:nvPr/>
        </p:nvSpPr>
        <p:spPr>
          <a:xfrm>
            <a:off x="3063240" y="3136392"/>
            <a:ext cx="2606040" cy="594360"/>
          </a:xfrm>
          <a:prstGeom prst="rect">
            <a:avLst/>
          </a:prstGeom>
          <a:noFill/>
          <a:ln/>
        </p:spPr>
        <p:txBody>
          <a:bodyPr wrap="square" lIns="0" tIns="0" rIns="0" bIns="0" rtlCol="0" anchor="ctr"/>
          <a:lstStyle/>
          <a:p>
            <a:pPr indent="0" marL="0">
              <a:buNone/>
            </a:pPr>
            <a:r>
              <a:rPr lang="en-US" sz="1400" dirty="0">
                <a:solidFill>
                  <a:srgbClr val="1B2430"/>
                </a:solidFill>
              </a:rPr>
              <a:t>annual denial write-offs; 30% to 50% assumed preventable</a:t>
            </a:r>
            <a:endParaRPr lang="en-US" sz="1400" dirty="0"/>
          </a:p>
        </p:txBody>
      </p:sp>
      <p:sp>
        <p:nvSpPr>
          <p:cNvPr id="13" name="Text 11"/>
          <p:cNvSpPr txBox="1"/>
          <p:nvPr/>
        </p:nvSpPr>
        <p:spPr>
          <a:xfrm>
            <a:off x="822960" y="3931920"/>
            <a:ext cx="2194560" cy="548640"/>
          </a:xfrm>
          <a:prstGeom prst="rect">
            <a:avLst/>
          </a:prstGeom>
          <a:noFill/>
          <a:ln/>
        </p:spPr>
        <p:txBody>
          <a:bodyPr wrap="square" lIns="0" tIns="0" rIns="0" bIns="0" rtlCol="0" anchor="ctr"/>
          <a:lstStyle/>
          <a:p>
            <a:pPr indent="0" marL="0">
              <a:buNone/>
            </a:pPr>
            <a:r>
              <a:rPr lang="en-US" sz="3000" b="1" dirty="0">
                <a:solidFill>
                  <a:srgbClr val="2E7D6E"/>
                </a:solidFill>
                <a:latin typeface="Cambria" pitchFamily="34" charset="0"/>
                <a:ea typeface="Cambria" pitchFamily="34" charset="-122"/>
                <a:cs typeface="Cambria" pitchFamily="34" charset="-120"/>
              </a:rPr>
              <a:t>11 + 2</a:t>
            </a:r>
            <a:endParaRPr lang="en-US" sz="3000" dirty="0"/>
          </a:p>
        </p:txBody>
      </p:sp>
      <p:sp>
        <p:nvSpPr>
          <p:cNvPr id="14" name="Text 12"/>
          <p:cNvSpPr txBox="1"/>
          <p:nvPr/>
        </p:nvSpPr>
        <p:spPr>
          <a:xfrm>
            <a:off x="3063240" y="3959352"/>
            <a:ext cx="2606040" cy="594360"/>
          </a:xfrm>
          <a:prstGeom prst="rect">
            <a:avLst/>
          </a:prstGeom>
          <a:noFill/>
          <a:ln/>
        </p:spPr>
        <p:txBody>
          <a:bodyPr wrap="square" lIns="0" tIns="0" rIns="0" bIns="0" rtlCol="0" anchor="ctr"/>
          <a:lstStyle/>
          <a:p>
            <a:pPr indent="0" marL="0">
              <a:buNone/>
            </a:pPr>
            <a:r>
              <a:rPr lang="en-US" sz="1400" dirty="0">
                <a:solidFill>
                  <a:srgbClr val="1B2430"/>
                </a:solidFill>
              </a:rPr>
              <a:t>proposed AI use cases, plus two pilots running without enterprise review</a:t>
            </a:r>
            <a:endParaRPr lang="en-US" sz="1400" dirty="0"/>
          </a:p>
        </p:txBody>
      </p:sp>
      <p:sp>
        <p:nvSpPr>
          <p:cNvPr id="15" name="Text 13"/>
          <p:cNvSpPr txBox="1"/>
          <p:nvPr/>
        </p:nvSpPr>
        <p:spPr>
          <a:xfrm>
            <a:off x="6629400" y="2286000"/>
            <a:ext cx="2194560" cy="548640"/>
          </a:xfrm>
          <a:prstGeom prst="rect">
            <a:avLst/>
          </a:prstGeom>
          <a:noFill/>
          <a:ln/>
        </p:spPr>
        <p:txBody>
          <a:bodyPr wrap="square" lIns="0" tIns="0" rIns="0" bIns="0" rtlCol="0" anchor="ctr"/>
          <a:lstStyle/>
          <a:p>
            <a:pPr indent="0" marL="0">
              <a:buNone/>
            </a:pPr>
            <a:r>
              <a:rPr lang="en-US" sz="3000" b="1" dirty="0">
                <a:solidFill>
                  <a:srgbClr val="C2660A"/>
                </a:solidFill>
                <a:latin typeface="Cambria" pitchFamily="34" charset="0"/>
                <a:ea typeface="Cambria" pitchFamily="34" charset="-122"/>
                <a:cs typeface="Cambria" pitchFamily="34" charset="-120"/>
              </a:rPr>
              <a:t>92%</a:t>
            </a:r>
            <a:endParaRPr lang="en-US" sz="3000" dirty="0"/>
          </a:p>
        </p:txBody>
      </p:sp>
      <p:sp>
        <p:nvSpPr>
          <p:cNvPr id="16" name="Text 14"/>
          <p:cNvSpPr txBox="1"/>
          <p:nvPr/>
        </p:nvSpPr>
        <p:spPr>
          <a:xfrm>
            <a:off x="8869680" y="2313432"/>
            <a:ext cx="2606040" cy="594360"/>
          </a:xfrm>
          <a:prstGeom prst="rect">
            <a:avLst/>
          </a:prstGeom>
          <a:noFill/>
          <a:ln/>
        </p:spPr>
        <p:txBody>
          <a:bodyPr wrap="square" lIns="0" tIns="0" rIns="0" bIns="0" rtlCol="0" anchor="ctr"/>
          <a:lstStyle/>
          <a:p>
            <a:pPr indent="0" marL="0">
              <a:buNone/>
            </a:pPr>
            <a:r>
              <a:rPr lang="en-US" sz="1400" dirty="0">
                <a:solidFill>
                  <a:srgbClr val="1B2430"/>
                </a:solidFill>
              </a:rPr>
              <a:t>of FY2027 discretionary IT capacity already committed</a:t>
            </a:r>
            <a:endParaRPr lang="en-US" sz="1400" dirty="0"/>
          </a:p>
        </p:txBody>
      </p:sp>
      <p:sp>
        <p:nvSpPr>
          <p:cNvPr id="17" name="Text 15"/>
          <p:cNvSpPr txBox="1"/>
          <p:nvPr/>
        </p:nvSpPr>
        <p:spPr>
          <a:xfrm>
            <a:off x="6629400" y="3108960"/>
            <a:ext cx="2194560" cy="548640"/>
          </a:xfrm>
          <a:prstGeom prst="rect">
            <a:avLst/>
          </a:prstGeom>
          <a:noFill/>
          <a:ln/>
        </p:spPr>
        <p:txBody>
          <a:bodyPr wrap="square" lIns="0" tIns="0" rIns="0" bIns="0" rtlCol="0" anchor="ctr"/>
          <a:lstStyle/>
          <a:p>
            <a:pPr indent="0" marL="0">
              <a:buNone/>
            </a:pPr>
            <a:r>
              <a:rPr lang="en-US" sz="3000" b="1" dirty="0">
                <a:solidFill>
                  <a:srgbClr val="C2660A"/>
                </a:solidFill>
                <a:latin typeface="Cambria" pitchFamily="34" charset="0"/>
                <a:ea typeface="Cambria" pitchFamily="34" charset="-122"/>
                <a:cs typeface="Cambria" pitchFamily="34" charset="-120"/>
              </a:rPr>
              <a:t>6,800</a:t>
            </a:r>
            <a:endParaRPr lang="en-US" sz="3000" dirty="0"/>
          </a:p>
        </p:txBody>
      </p:sp>
      <p:sp>
        <p:nvSpPr>
          <p:cNvPr id="18" name="Text 16"/>
          <p:cNvSpPr txBox="1"/>
          <p:nvPr/>
        </p:nvSpPr>
        <p:spPr>
          <a:xfrm>
            <a:off x="8869680" y="3136392"/>
            <a:ext cx="2606040" cy="594360"/>
          </a:xfrm>
          <a:prstGeom prst="rect">
            <a:avLst/>
          </a:prstGeom>
          <a:noFill/>
          <a:ln/>
        </p:spPr>
        <p:txBody>
          <a:bodyPr wrap="square" lIns="0" tIns="0" rIns="0" bIns="0" rtlCol="0" anchor="ctr"/>
          <a:lstStyle/>
          <a:p>
            <a:pPr indent="0" marL="0">
              <a:buNone/>
            </a:pPr>
            <a:r>
              <a:rPr lang="en-US" sz="1400" dirty="0">
                <a:solidFill>
                  <a:srgbClr val="1B2430"/>
                </a:solidFill>
              </a:rPr>
              <a:t>uncommitted hours vs ~14,000 needed for a governed first phase</a:t>
            </a:r>
            <a:endParaRPr lang="en-US" sz="1400" dirty="0"/>
          </a:p>
        </p:txBody>
      </p:sp>
      <p:sp>
        <p:nvSpPr>
          <p:cNvPr id="19" name="Text 17"/>
          <p:cNvSpPr txBox="1"/>
          <p:nvPr/>
        </p:nvSpPr>
        <p:spPr>
          <a:xfrm>
            <a:off x="6629400" y="3931920"/>
            <a:ext cx="2194560" cy="548640"/>
          </a:xfrm>
          <a:prstGeom prst="rect">
            <a:avLst/>
          </a:prstGeom>
          <a:noFill/>
          <a:ln/>
        </p:spPr>
        <p:txBody>
          <a:bodyPr wrap="square" lIns="0" tIns="0" rIns="0" bIns="0" rtlCol="0" anchor="ctr"/>
          <a:lstStyle/>
          <a:p>
            <a:pPr indent="0" marL="0">
              <a:buNone/>
            </a:pPr>
            <a:r>
              <a:rPr lang="en-US" sz="3000" b="1" dirty="0">
                <a:solidFill>
                  <a:srgbClr val="C2660A"/>
                </a:solidFill>
                <a:latin typeface="Cambria" pitchFamily="34" charset="0"/>
                <a:ea typeface="Cambria" pitchFamily="34" charset="-122"/>
                <a:cs typeface="Cambria" pitchFamily="34" charset="-120"/>
              </a:rPr>
              <a:t>4,600</a:t>
            </a:r>
            <a:endParaRPr lang="en-US" sz="3000" dirty="0"/>
          </a:p>
        </p:txBody>
      </p:sp>
      <p:sp>
        <p:nvSpPr>
          <p:cNvPr id="20" name="Text 18"/>
          <p:cNvSpPr txBox="1"/>
          <p:nvPr/>
        </p:nvSpPr>
        <p:spPr>
          <a:xfrm>
            <a:off x="8869680" y="3959352"/>
            <a:ext cx="2606040" cy="594360"/>
          </a:xfrm>
          <a:prstGeom prst="rect">
            <a:avLst/>
          </a:prstGeom>
          <a:noFill/>
          <a:ln/>
        </p:spPr>
        <p:txBody>
          <a:bodyPr wrap="square" lIns="0" tIns="0" rIns="0" bIns="0" rtlCol="0" anchor="ctr"/>
          <a:lstStyle/>
          <a:p>
            <a:pPr indent="0" marL="0">
              <a:buNone/>
            </a:pPr>
            <a:r>
              <a:rPr lang="en-US" sz="1400" dirty="0">
                <a:solidFill>
                  <a:srgbClr val="1B2430"/>
                </a:solidFill>
              </a:rPr>
              <a:t>specialist hours needed are committed to the ERP and EHR programs</a:t>
            </a:r>
            <a:endParaRPr lang="en-US" sz="1400" dirty="0"/>
          </a:p>
        </p:txBody>
      </p:sp>
      <p:sp>
        <p:nvSpPr>
          <p:cNvPr id="21" name="versus marker"/>
          <p:cNvSpPr/>
          <p:nvPr/>
        </p:nvSpPr>
        <p:spPr>
          <a:xfrm>
            <a:off x="5788152" y="3017520"/>
            <a:ext cx="585216" cy="585216"/>
          </a:xfrm>
          <a:prstGeom prst="ellipse">
            <a:avLst/>
          </a:prstGeom>
          <a:solidFill>
            <a:srgbClr val="FFFFFF"/>
          </a:solidFill>
          <a:ln w="12700">
            <a:solidFill>
              <a:srgbClr val="C9D3DF"/>
            </a:solidFill>
            <a:prstDash val="solid"/>
          </a:ln>
        </p:spPr>
      </p:sp>
      <p:sp>
        <p:nvSpPr>
          <p:cNvPr id="22" name="Text 20"/>
          <p:cNvSpPr txBox="1"/>
          <p:nvPr/>
        </p:nvSpPr>
        <p:spPr>
          <a:xfrm>
            <a:off x="5788152" y="3017520"/>
            <a:ext cx="585216" cy="585216"/>
          </a:xfrm>
          <a:prstGeom prst="rect">
            <a:avLst/>
          </a:prstGeom>
          <a:noFill/>
          <a:ln/>
        </p:spPr>
        <p:txBody>
          <a:bodyPr wrap="square" lIns="0" tIns="0" rIns="0" bIns="0" rtlCol="0" anchor="ctr"/>
          <a:lstStyle/>
          <a:p>
            <a:pPr algn="ctr" indent="0" marL="0">
              <a:buNone/>
            </a:pPr>
            <a:r>
              <a:rPr lang="en-US" sz="1400" b="1" dirty="0">
                <a:solidFill>
                  <a:srgbClr val="5A6270"/>
                </a:solidFill>
              </a:rPr>
              <a:t>vs</a:t>
            </a:r>
            <a:endParaRPr lang="en-US" sz="1400" dirty="0"/>
          </a:p>
        </p:txBody>
      </p:sp>
      <p:sp>
        <p:nvSpPr>
          <p:cNvPr id="23" name="decision banner"/>
          <p:cNvSpPr/>
          <p:nvPr/>
        </p:nvSpPr>
        <p:spPr>
          <a:xfrm>
            <a:off x="548640" y="5166360"/>
            <a:ext cx="11064240" cy="1005840"/>
          </a:xfrm>
          <a:prstGeom prst="rect">
            <a:avLst/>
          </a:prstGeom>
          <a:solidFill>
            <a:srgbClr val="1F3A5F"/>
          </a:solidFill>
          <a:ln w="9525">
            <a:solidFill>
              <a:srgbClr val="1F3A5F"/>
            </a:solidFill>
            <a:prstDash val="solid"/>
          </a:ln>
        </p:spPr>
      </p:sp>
      <p:sp>
        <p:nvSpPr>
          <p:cNvPr id="24" name="Text 22"/>
          <p:cNvSpPr txBox="1"/>
          <p:nvPr/>
        </p:nvSpPr>
        <p:spPr>
          <a:xfrm>
            <a:off x="822960" y="5212080"/>
            <a:ext cx="10515600" cy="914400"/>
          </a:xfrm>
          <a:prstGeom prst="rect">
            <a:avLst/>
          </a:prstGeom>
          <a:noFill/>
          <a:ln/>
        </p:spPr>
        <p:txBody>
          <a:bodyPr wrap="square" lIns="0" tIns="0" rIns="0" bIns="0" rtlCol="0" anchor="ctr"/>
          <a:lstStyle/>
          <a:p>
            <a:pPr indent="0" marL="0">
              <a:buNone/>
            </a:pPr>
            <a:r>
              <a:rPr lang="en-US" sz="1600" b="1" dirty="0">
                <a:solidFill>
                  <a:srgbClr val="FFFFFF"/>
                </a:solidFill>
              </a:rPr>
              <a:t>The decision (Dec 9, 2026, scenario):  </a:t>
            </a:r>
            <a:pPr indent="0" marL="0">
              <a:buNone/>
            </a:pPr>
            <a:r>
              <a:rPr lang="en-US" sz="1600" dirty="0">
                <a:solidFill>
                  <a:srgbClr val="FFFFFF"/>
                </a:solidFill>
              </a:rPr>
              <a:t>How should HRHS approach enterprise AI, and what can it actually commit to in FY2027, given that approving a strategy does not create engineering capacity?</a:t>
            </a:r>
            <a:endParaRPr lang="en-US" sz="1600" dirty="0"/>
          </a:p>
        </p:txBody>
      </p:sp>
      <p:sp>
        <p:nvSpPr>
          <p:cNvPr id="25" name="Slide Number Placeholder 0"/>
          <p:cNvSpPr>
            <a:spLocks noGrp="1"/>
          </p:cNvSpPr>
          <p:nvPr>
            <p:ph type="sldNum" sz="quarter" idx="4294967295"/>
          </p:nvPr>
        </p:nvSpPr>
        <p:spPr>
          <a:xfrm>
            <a:off x="1124712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320040"/>
          </a:xfrm>
          <a:prstGeom prst="rect">
            <a:avLst/>
          </a:prstGeom>
          <a:noFill/>
          <a:ln/>
        </p:spPr>
        <p:txBody>
          <a:bodyPr wrap="square" lIns="0" tIns="0" rIns="0" bIns="0" rtlCol="0"/>
          <a:lstStyle/>
          <a:p>
            <a:pPr indent="0" marL="0">
              <a:buNone/>
            </a:pPr>
            <a:r>
              <a:rPr lang="en-US" sz="1200" b="1" dirty="0">
                <a:solidFill>
                  <a:schemeClr val="accent2"/>
                </a:solidFill>
              </a:rPr>
              <a:t>2  |  WHAT THE EVIDENCE SUPPORTS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What do we know, assume, and need to validate?</a:t>
            </a:r>
            <a:endParaRPr lang="en-US" sz="3200" dirty="0"/>
          </a:p>
        </p:txBody>
      </p:sp>
      <p:graphicFrame>
        <p:nvGraphicFramePr>
          <p:cNvPr id="3" name="evidence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514600"/>
                <a:gridCol w="2514600"/>
                <a:gridCol w="2057400"/>
                <a:gridCol w="2011680"/>
                <a:gridCol w="1965960"/>
              </a:tblGrid>
              <a:tr h="411480">
                <a:tc>
                  <a:txBody>
                    <a:bodyPr/>
                    <a:lstStyle/>
                    <a:p>
                      <a:pPr indent="0" marL="0">
                        <a:buNone/>
                      </a:pPr>
                      <a:r>
                        <a:rPr lang="en-US" sz="1300" b="1" dirty="0">
                          <a:solidFill>
                            <a:srgbClr val="FFFFFF"/>
                          </a:solidFill>
                        </a:rPr>
                        <a:t>Finding</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Simulated evidence [S]</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Implication</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Validation status</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rPr>
                        <a:t>Decision consequence</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1F3A5F"/>
                    </a:solidFill>
                  </a:tcPr>
                </a:tc>
              </a:tr>
              <a:tr h="868680">
                <a:tc>
                  <a:txBody>
                    <a:bodyPr/>
                    <a:lstStyle/>
                    <a:p>
                      <a:pPr indent="0" marL="0">
                        <a:buNone/>
                      </a:pPr>
                      <a:r>
                        <a:rPr lang="en-US" sz="1300" b="1" dirty="0">
                          <a:solidFill>
                            <a:srgbClr val="1B2430"/>
                          </a:solidFill>
                        </a:rPr>
                        <a:t>Governance is absent (F-05)</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dirty="0">
                          <a:solidFill>
                            <a:srgbClr val="1B2430"/>
                          </a:solidFill>
                        </a:rPr>
                        <a:t>No AI inventory, risk tiering, or evaluation; P-02 ran 5 months with no success measure</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dirty="0">
                          <a:solidFill>
                            <a:srgbClr val="1B2430"/>
                          </a:solidFill>
                        </a:rPr>
                        <a:t>Value and risk cannot be compared across 11 proposals</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2E7D6E"/>
                          </a:solidFill>
                        </a:rPr>
                        <a:t>High within case</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E6F2EF"/>
                    </a:solidFill>
                  </a:tcPr>
                </a:tc>
                <a:tc>
                  <a:txBody>
                    <a:bodyPr/>
                    <a:lstStyle/>
                    <a:p>
                      <a:pPr indent="0" marL="0">
                        <a:buNone/>
                      </a:pPr>
                      <a:r>
                        <a:rPr lang="en-US" sz="1300" dirty="0">
                          <a:solidFill>
                            <a:srgbClr val="1B2430"/>
                          </a:solidFill>
                        </a:rPr>
                        <a:t>Minimum governance needed under any option</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777240">
                <a:tc>
                  <a:txBody>
                    <a:bodyPr/>
                    <a:lstStyle/>
                    <a:p>
                      <a:pPr indent="0" marL="0">
                        <a:buNone/>
                      </a:pPr>
                      <a:r>
                        <a:rPr lang="en-US" sz="1300" b="1" dirty="0">
                          <a:solidFill>
                            <a:srgbClr val="1B2430"/>
                          </a:solidFill>
                        </a:rPr>
                        <a:t>Unresolved PHI vendor risk (F-04)</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dirty="0">
                          <a:solidFill>
                            <a:srgbClr val="1B2430"/>
                          </a:solidFill>
                        </a:rPr>
                        <a:t>P-01 vendor data-use terms unreviewed; contract auto-renews Jan 31</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dirty="0">
                          <a:solidFill>
                            <a:srgbClr val="1B2430"/>
                          </a:solidFill>
                        </a:rPr>
                        <a:t>HIPAA applies; no violation identified, but terms must be verified before renewal</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C2660A"/>
                          </a:solidFill>
                        </a:rPr>
                        <a:t>Confirm by Day 30 (V-04)</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BEFE3"/>
                    </a:solidFill>
                  </a:tcPr>
                </a:tc>
                <a:tc>
                  <a:txBody>
                    <a:bodyPr/>
                    <a:lstStyle/>
                    <a:p>
                      <a:pPr indent="0" marL="0">
                        <a:buNone/>
                      </a:pPr>
                      <a:r>
                        <a:rPr lang="en-US" sz="1300" dirty="0">
                          <a:solidFill>
                            <a:srgbClr val="1B2430"/>
                          </a:solidFill>
                        </a:rPr>
                        <a:t>Act now regardless of option (D-04)</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777240">
                <a:tc>
                  <a:txBody>
                    <a:bodyPr/>
                    <a:lstStyle/>
                    <a:p>
                      <a:pPr indent="0" marL="0">
                        <a:buNone/>
                      </a:pPr>
                      <a:r>
                        <a:rPr lang="en-US" sz="1300" b="1" dirty="0">
                          <a:solidFill>
                            <a:srgbClr val="1B2430"/>
                          </a:solidFill>
                        </a:rPr>
                        <a:t>Data readiness is uneven (F-02)</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dirty="0">
                          <a:solidFill>
                            <a:srgbClr val="1B2430"/>
                          </a:solidFill>
                        </a:rPr>
                        <a:t>18% of item-master records incomplete; 23% of denials coded "other"</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dirty="0">
                          <a:solidFill>
                            <a:srgbClr val="1B2430"/>
                          </a:solidFill>
                        </a:rPr>
                        <a:t>Supply chain usable with remediation; clinical data is not</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C2660A"/>
                          </a:solidFill>
                        </a:rPr>
                        <a:t>Validate Days 30 to 60 (V-02, V-03)</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BEFE3"/>
                    </a:solidFill>
                  </a:tcPr>
                </a:tc>
                <a:tc>
                  <a:txBody>
                    <a:bodyPr/>
                    <a:lstStyle/>
                    <a:p>
                      <a:pPr indent="0" marL="0">
                        <a:buNone/>
                      </a:pPr>
                      <a:r>
                        <a:rPr lang="en-US" sz="1300" dirty="0">
                          <a:solidFill>
                            <a:srgbClr val="1B2430"/>
                          </a:solidFill>
                        </a:rPr>
                        <a:t>Start in supply chain; sequence UC-02</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r h="868680">
                <a:tc>
                  <a:txBody>
                    <a:bodyPr/>
                    <a:lstStyle/>
                    <a:p>
                      <a:pPr indent="0" marL="0">
                        <a:buNone/>
                      </a:pPr>
                      <a:r>
                        <a:rPr lang="en-US" sz="1300" b="1" dirty="0">
                          <a:solidFill>
                            <a:srgbClr val="1B2430"/>
                          </a:solidFill>
                        </a:rPr>
                        <a:t>Specialist capacity is binding (F-08)</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dirty="0">
                          <a:solidFill>
                            <a:srgbClr val="1B2430"/>
                          </a:solidFill>
                        </a:rPr>
                        <a:t>6,800 of 85,000 hours free; 4,600 specialist hours committed to ERP/EHR</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dirty="0">
                          <a:solidFill>
                            <a:srgbClr val="1B2430"/>
                          </a:solidFill>
                        </a:rPr>
                        <a:t>Approval does not create capacity</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c>
                  <a:txBody>
                    <a:bodyPr/>
                    <a:lstStyle/>
                    <a:p>
                      <a:pPr indent="0" marL="0">
                        <a:buNone/>
                      </a:pPr>
                      <a:r>
                        <a:rPr lang="en-US" sz="1300" b="1" dirty="0">
                          <a:solidFill>
                            <a:srgbClr val="B23B3B"/>
                          </a:solidFill>
                        </a:rPr>
                        <a:t>Validate Days 15 to 20 (V-05)</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solidFill>
                      <a:srgbClr val="F7E4E4"/>
                    </a:solidFill>
                  </a:tcPr>
                </a:tc>
                <a:tc>
                  <a:txBody>
                    <a:bodyPr/>
                    <a:lstStyle/>
                    <a:p>
                      <a:pPr indent="0" marL="0">
                        <a:buNone/>
                      </a:pPr>
                      <a:r>
                        <a:rPr lang="en-US" sz="1300" dirty="0">
                          <a:solidFill>
                            <a:srgbClr val="1B2430"/>
                          </a:solidFill>
                        </a:rPr>
                        <a:t>Recommendation conditional on validated capacity (D-05)</a:t>
                      </a:r>
                      <a:endParaRPr lang="en-US" sz="1300" dirty="0"/>
                    </a:p>
                  </a:txBody>
                  <a:tcPr marL="73152" marR="73152" marT="73152" marB="73152" anchor="ctr">
                    <a:lnL w="9525" cap="flat" cmpd="sng" algn="ctr">
                      <a:solidFill>
                        <a:srgbClr val="C9D3DF"/>
                      </a:solidFill>
                      <a:prstDash val="solid"/>
                      <a:round/>
                      <a:headEnd type="none" w="med" len="med"/>
                      <a:tailEnd type="none" w="med" len="med"/>
                    </a:lnL>
                    <a:lnR w="9525" cap="flat" cmpd="sng" algn="ctr">
                      <a:solidFill>
                        <a:srgbClr val="C9D3DF"/>
                      </a:solidFill>
                      <a:prstDash val="solid"/>
                      <a:round/>
                      <a:headEnd type="none" w="med" len="med"/>
                      <a:tailEnd type="none" w="med" len="med"/>
                    </a:lnR>
                    <a:lnT w="9525" cap="flat" cmpd="sng" algn="ctr">
                      <a:solidFill>
                        <a:srgbClr val="C9D3DF"/>
                      </a:solidFill>
                      <a:prstDash val="solid"/>
                      <a:round/>
                      <a:headEnd type="none" w="med" len="med"/>
                      <a:tailEnd type="none" w="med" len="med"/>
                    </a:lnT>
                    <a:lnB w="9525" cap="flat" cmpd="sng" algn="ctr">
                      <a:solidFill>
                        <a:srgbClr val="C9D3DF"/>
                      </a:solidFill>
                      <a:prstDash val="solid"/>
                      <a:round/>
                      <a:headEnd type="none" w="med" len="med"/>
                      <a:tailEnd type="none" w="med" len="med"/>
                    </a:lnB>
                  </a:tcPr>
                </a:tc>
              </a:tr>
            </a:tbl>
          </a:graphicData>
        </a:graphic>
      </p:graphicFrame>
      <p:sp>
        <p:nvSpPr>
          <p:cNvPr id="5" name="evidence note"/>
          <p:cNvSpPr/>
          <p:nvPr/>
        </p:nvSpPr>
        <p:spPr>
          <a:xfrm>
            <a:off x="548640" y="5486400"/>
            <a:ext cx="11064240" cy="685800"/>
          </a:xfrm>
          <a:prstGeom prst="rect">
            <a:avLst/>
          </a:prstGeom>
          <a:solidFill>
            <a:srgbClr val="EEF2F7"/>
          </a:solidFill>
          <a:ln w="9525">
            <a:solidFill>
              <a:srgbClr val="EEF2F7"/>
            </a:solidFill>
            <a:prstDash val="solid"/>
          </a:ln>
        </p:spPr>
      </p:sp>
      <p:sp>
        <p:nvSpPr>
          <p:cNvPr id="6" name="Text 3"/>
          <p:cNvSpPr txBox="1"/>
          <p:nvPr/>
        </p:nvSpPr>
        <p:spPr>
          <a:xfrm>
            <a:off x="777240" y="5532120"/>
            <a:ext cx="10607040" cy="594360"/>
          </a:xfrm>
          <a:prstGeom prst="rect">
            <a:avLst/>
          </a:prstGeom>
          <a:noFill/>
          <a:ln/>
        </p:spPr>
        <p:txBody>
          <a:bodyPr wrap="square" lIns="0" tIns="0" rIns="0" bIns="0" rtlCol="0" anchor="ctr"/>
          <a:lstStyle/>
          <a:p>
            <a:pPr indent="0" marL="0">
              <a:buNone/>
            </a:pPr>
            <a:r>
              <a:rPr lang="en-US" sz="1400" b="1" dirty="0">
                <a:solidFill>
                  <a:srgbClr val="1B2430"/>
                </a:solidFill>
              </a:rPr>
              <a:t>Read with care: </a:t>
            </a:r>
            <a:pPr indent="0" marL="0">
              <a:buNone/>
            </a:pPr>
            <a:r>
              <a:rPr lang="en-US" sz="1400" dirty="0">
                <a:solidFill>
                  <a:srgbClr val="1B2430"/>
                </a:solidFill>
              </a:rPr>
              <a:t>every finding is simulated within a fictional case. In a real engagement, each would be validated (V-01 to V-07) before money or people are committed. Estimates are plus or minus 30%.</a:t>
            </a:r>
            <a:endParaRPr lang="en-US" sz="1400" dirty="0"/>
          </a:p>
        </p:txBody>
      </p:sp>
      <p:sp>
        <p:nvSpPr>
          <p:cNvPr id="25" name="Slide Number Placeholder 0"/>
          <p:cNvSpPr>
            <a:spLocks noGrp="1"/>
          </p:cNvSpPr>
          <p:nvPr>
            <p:ph type="sldNum" sz="quarter" idx="4294967295"/>
          </p:nvPr>
        </p:nvSpPr>
        <p:spPr>
          <a:xfrm>
            <a:off x="1124712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320040"/>
          </a:xfrm>
          <a:prstGeom prst="rect">
            <a:avLst/>
          </a:prstGeom>
          <a:noFill/>
          <a:ln/>
        </p:spPr>
        <p:txBody>
          <a:bodyPr wrap="square" lIns="0" tIns="0" rIns="0" bIns="0" rtlCol="0"/>
          <a:lstStyle/>
          <a:p>
            <a:pPr indent="0" marL="0">
              <a:buNone/>
            </a:pPr>
            <a:r>
              <a:rPr lang="en-US" sz="1200" b="1" dirty="0">
                <a:solidFill>
                  <a:schemeClr val="accent2"/>
                </a:solidFill>
              </a:rPr>
              <a:t>3  |  THREE CREDIBLE PATHS FORWARD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Which alternative best serves the organization?</a:t>
            </a:r>
            <a:endParaRPr lang="en-US" sz="3200" dirty="0"/>
          </a:p>
        </p:txBody>
      </p:sp>
      <p:sp>
        <p:nvSpPr>
          <p:cNvPr id="4" name="option A card"/>
          <p:cNvSpPr/>
          <p:nvPr/>
        </p:nvSpPr>
        <p:spPr>
          <a:xfrm>
            <a:off x="548640" y="1463040"/>
            <a:ext cx="3566160" cy="3611880"/>
          </a:xfrm>
          <a:prstGeom prst="rect">
            <a:avLst/>
          </a:prstGeom>
          <a:solidFill>
            <a:srgbClr val="EEF2F7"/>
          </a:solidFill>
          <a:ln w="9525">
            <a:solidFill>
              <a:srgbClr val="EEF2F7"/>
            </a:solidFill>
            <a:prstDash val="solid"/>
          </a:ln>
        </p:spPr>
      </p:sp>
      <p:sp>
        <p:nvSpPr>
          <p:cNvPr id="5" name="Text 3"/>
          <p:cNvSpPr txBox="1"/>
          <p:nvPr/>
        </p:nvSpPr>
        <p:spPr>
          <a:xfrm>
            <a:off x="731520" y="1600200"/>
            <a:ext cx="457200" cy="457200"/>
          </a:xfrm>
          <a:prstGeom prst="rect">
            <a:avLst/>
          </a:prstGeom>
          <a:noFill/>
          <a:ln/>
        </p:spPr>
        <p:txBody>
          <a:bodyPr wrap="square" lIns="0" tIns="0" rIns="0" bIns="0" rtlCol="0" anchor="ctr"/>
          <a:lstStyle/>
          <a:p>
            <a:pPr indent="0" marL="0">
              <a:buNone/>
            </a:pPr>
            <a:r>
              <a:rPr lang="en-US" sz="2800" b="1" dirty="0">
                <a:solidFill>
                  <a:srgbClr val="5A6270"/>
                </a:solidFill>
                <a:latin typeface="Cambria" pitchFamily="34" charset="0"/>
                <a:ea typeface="Cambria" pitchFamily="34" charset="-122"/>
                <a:cs typeface="Cambria" pitchFamily="34" charset="-120"/>
              </a:rPr>
              <a:t>A</a:t>
            </a:r>
            <a:endParaRPr lang="en-US" sz="2800" dirty="0"/>
          </a:p>
        </p:txBody>
      </p:sp>
      <p:sp>
        <p:nvSpPr>
          <p:cNvPr id="6" name="Text 4"/>
          <p:cNvSpPr txBox="1"/>
          <p:nvPr/>
        </p:nvSpPr>
        <p:spPr>
          <a:xfrm>
            <a:off x="1188720" y="1664208"/>
            <a:ext cx="2743200" cy="365760"/>
          </a:xfrm>
          <a:prstGeom prst="rect">
            <a:avLst/>
          </a:prstGeom>
          <a:noFill/>
          <a:ln/>
        </p:spPr>
        <p:txBody>
          <a:bodyPr wrap="square" lIns="0" tIns="0" rIns="0" bIns="0" rtlCol="0" anchor="ctr"/>
          <a:lstStyle/>
          <a:p>
            <a:pPr indent="0" marL="0">
              <a:buNone/>
            </a:pPr>
            <a:r>
              <a:rPr lang="en-US" sz="1600" b="1" dirty="0">
                <a:solidFill>
                  <a:srgbClr val="1F3A5F"/>
                </a:solidFill>
              </a:rPr>
              <a:t>Targeted, Vendor-Led</a:t>
            </a:r>
            <a:endParaRPr lang="en-US" sz="1600" dirty="0"/>
          </a:p>
        </p:txBody>
      </p:sp>
      <p:sp>
        <p:nvSpPr>
          <p:cNvPr id="7" name="Text 5"/>
          <p:cNvSpPr txBox="1"/>
          <p:nvPr/>
        </p:nvSpPr>
        <p:spPr>
          <a:xfrm>
            <a:off x="731520" y="2514600"/>
            <a:ext cx="822960" cy="502920"/>
          </a:xfrm>
          <a:prstGeom prst="rect">
            <a:avLst/>
          </a:prstGeom>
          <a:noFill/>
          <a:ln/>
        </p:spPr>
        <p:txBody>
          <a:bodyPr wrap="square" lIns="0" tIns="0" rIns="0" bIns="0" rtlCol="0" anchor="t"/>
          <a:lstStyle/>
          <a:p>
            <a:pPr indent="0" marL="0">
              <a:buNone/>
            </a:pPr>
            <a:r>
              <a:rPr lang="en-US" sz="1800" b="1" dirty="0">
                <a:solidFill>
                  <a:srgbClr val="2E7D6E"/>
                </a:solidFill>
              </a:rPr>
              <a:t>+</a:t>
            </a:r>
            <a:endParaRPr lang="en-US" sz="1800" dirty="0"/>
          </a:p>
        </p:txBody>
      </p:sp>
      <p:sp>
        <p:nvSpPr>
          <p:cNvPr id="8" name="Text 6"/>
          <p:cNvSpPr txBox="1"/>
          <p:nvPr/>
        </p:nvSpPr>
        <p:spPr>
          <a:xfrm>
            <a:off x="1554480" y="2514600"/>
            <a:ext cx="2423160" cy="530352"/>
          </a:xfrm>
          <a:prstGeom prst="rect">
            <a:avLst/>
          </a:prstGeom>
          <a:noFill/>
          <a:ln/>
        </p:spPr>
        <p:txBody>
          <a:bodyPr wrap="square" lIns="0" tIns="0" rIns="0" bIns="0" rtlCol="0" anchor="t"/>
          <a:lstStyle/>
          <a:p>
            <a:pPr indent="0" marL="0">
              <a:buNone/>
            </a:pPr>
            <a:r>
              <a:rPr lang="en-US" sz="1300" dirty="0">
                <a:solidFill>
                  <a:srgbClr val="1B2430"/>
                </a:solidFill>
              </a:rPr>
              <a:t>Fastest value (4 to 6 months); lowest 3-year cost</a:t>
            </a:r>
            <a:endParaRPr lang="en-US" sz="1300" dirty="0"/>
          </a:p>
        </p:txBody>
      </p:sp>
      <p:sp>
        <p:nvSpPr>
          <p:cNvPr id="9" name="Text 7"/>
          <p:cNvSpPr txBox="1"/>
          <p:nvPr/>
        </p:nvSpPr>
        <p:spPr>
          <a:xfrm>
            <a:off x="731520" y="3081528"/>
            <a:ext cx="822960" cy="502920"/>
          </a:xfrm>
          <a:prstGeom prst="rect">
            <a:avLst/>
          </a:prstGeom>
          <a:noFill/>
          <a:ln/>
        </p:spPr>
        <p:txBody>
          <a:bodyPr wrap="square" lIns="0" tIns="0" rIns="0" bIns="0" rtlCol="0" anchor="t"/>
          <a:lstStyle/>
          <a:p>
            <a:pPr indent="0" marL="0">
              <a:buNone/>
            </a:pPr>
            <a:r>
              <a:rPr lang="en-US" sz="1800" b="1" dirty="0">
                <a:solidFill>
                  <a:srgbClr val="B23B3B"/>
                </a:solidFill>
              </a:rPr>
              <a:t>−</a:t>
            </a:r>
            <a:endParaRPr lang="en-US" sz="1800" dirty="0"/>
          </a:p>
        </p:txBody>
      </p:sp>
      <p:sp>
        <p:nvSpPr>
          <p:cNvPr id="10" name="Text 8"/>
          <p:cNvSpPr txBox="1"/>
          <p:nvPr/>
        </p:nvSpPr>
        <p:spPr>
          <a:xfrm>
            <a:off x="1554480" y="3081528"/>
            <a:ext cx="2423160" cy="530352"/>
          </a:xfrm>
          <a:prstGeom prst="rect">
            <a:avLst/>
          </a:prstGeom>
          <a:noFill/>
          <a:ln/>
        </p:spPr>
        <p:txBody>
          <a:bodyPr wrap="square" lIns="0" tIns="0" rIns="0" bIns="0" rtlCol="0" anchor="t"/>
          <a:lstStyle/>
          <a:p>
            <a:pPr indent="0" marL="0">
              <a:buNone/>
            </a:pPr>
            <a:r>
              <a:rPr lang="en-US" sz="1300" dirty="0">
                <a:solidFill>
                  <a:srgbClr val="1B2430"/>
                </a:solidFill>
              </a:rPr>
              <a:t>Controls applied product by product; vendor dependency</a:t>
            </a:r>
            <a:endParaRPr lang="en-US" sz="1300" dirty="0"/>
          </a:p>
        </p:txBody>
      </p:sp>
      <p:sp>
        <p:nvSpPr>
          <p:cNvPr id="11" name="Text 9"/>
          <p:cNvSpPr txBox="1"/>
          <p:nvPr/>
        </p:nvSpPr>
        <p:spPr>
          <a:xfrm>
            <a:off x="731520" y="3648456"/>
            <a:ext cx="822960" cy="502920"/>
          </a:xfrm>
          <a:prstGeom prst="rect">
            <a:avLst/>
          </a:prstGeom>
          <a:noFill/>
          <a:ln/>
        </p:spPr>
        <p:txBody>
          <a:bodyPr wrap="square" lIns="0" tIns="0" rIns="0" bIns="0" rtlCol="0" anchor="t"/>
          <a:lstStyle/>
          <a:p>
            <a:pPr indent="0" marL="0">
              <a:buNone/>
            </a:pPr>
            <a:r>
              <a:rPr lang="en-US" sz="1100" b="1" dirty="0">
                <a:solidFill>
                  <a:srgbClr val="5A6270"/>
                </a:solidFill>
              </a:rPr>
              <a:t>Capacity</a:t>
            </a:r>
            <a:endParaRPr lang="en-US" sz="1100" dirty="0"/>
          </a:p>
        </p:txBody>
      </p:sp>
      <p:sp>
        <p:nvSpPr>
          <p:cNvPr id="12" name="Text 10"/>
          <p:cNvSpPr txBox="1"/>
          <p:nvPr/>
        </p:nvSpPr>
        <p:spPr>
          <a:xfrm>
            <a:off x="1554480" y="3648456"/>
            <a:ext cx="2423160" cy="530352"/>
          </a:xfrm>
          <a:prstGeom prst="rect">
            <a:avLst/>
          </a:prstGeom>
          <a:noFill/>
          <a:ln/>
        </p:spPr>
        <p:txBody>
          <a:bodyPr wrap="square" lIns="0" tIns="0" rIns="0" bIns="0" rtlCol="0" anchor="t"/>
          <a:lstStyle/>
          <a:p>
            <a:pPr indent="0" marL="0">
              <a:buNone/>
            </a:pPr>
            <a:r>
              <a:rPr lang="en-US" sz="1300" dirty="0">
                <a:solidFill>
                  <a:srgbClr val="1B2430"/>
                </a:solidFill>
              </a:rPr>
              <a:t>9,000 IT hours (~1,200 specialist)</a:t>
            </a:r>
            <a:endParaRPr lang="en-US" sz="1300" dirty="0"/>
          </a:p>
        </p:txBody>
      </p:sp>
      <p:sp>
        <p:nvSpPr>
          <p:cNvPr id="13" name="Text 11"/>
          <p:cNvSpPr txBox="1"/>
          <p:nvPr/>
        </p:nvSpPr>
        <p:spPr>
          <a:xfrm>
            <a:off x="731520" y="4215384"/>
            <a:ext cx="822960" cy="502920"/>
          </a:xfrm>
          <a:prstGeom prst="rect">
            <a:avLst/>
          </a:prstGeom>
          <a:noFill/>
          <a:ln/>
        </p:spPr>
        <p:txBody>
          <a:bodyPr wrap="square" lIns="0" tIns="0" rIns="0" bIns="0" rtlCol="0" anchor="t"/>
          <a:lstStyle/>
          <a:p>
            <a:pPr indent="0" marL="0">
              <a:buNone/>
            </a:pPr>
            <a:r>
              <a:rPr lang="en-US" sz="1100" b="1" dirty="0">
                <a:solidFill>
                  <a:srgbClr val="5A6270"/>
                </a:solidFill>
              </a:rPr>
              <a:t>Exposure</a:t>
            </a:r>
            <a:endParaRPr lang="en-US" sz="1100" dirty="0"/>
          </a:p>
        </p:txBody>
      </p:sp>
      <p:sp>
        <p:nvSpPr>
          <p:cNvPr id="14" name="Text 12"/>
          <p:cNvSpPr txBox="1"/>
          <p:nvPr/>
        </p:nvSpPr>
        <p:spPr>
          <a:xfrm>
            <a:off x="1554480" y="4215384"/>
            <a:ext cx="2423160" cy="530352"/>
          </a:xfrm>
          <a:prstGeom prst="rect">
            <a:avLst/>
          </a:prstGeom>
          <a:noFill/>
          <a:ln/>
        </p:spPr>
        <p:txBody>
          <a:bodyPr wrap="square" lIns="0" tIns="0" rIns="0" bIns="0" rtlCol="0" anchor="t"/>
          <a:lstStyle/>
          <a:p>
            <a:pPr indent="0" marL="0">
              <a:buNone/>
            </a:pPr>
            <a:r>
              <a:rPr lang="en-US" sz="1300" dirty="0">
                <a:solidFill>
                  <a:srgbClr val="1B2430"/>
                </a:solidFill>
              </a:rPr>
              <a:t>$2.55M FY27  |  $6.35M 3-yr</a:t>
            </a:r>
            <a:endParaRPr lang="en-US" sz="1300" dirty="0"/>
          </a:p>
        </p:txBody>
      </p:sp>
      <p:sp>
        <p:nvSpPr>
          <p:cNvPr id="15" name="Text 13"/>
          <p:cNvSpPr txBox="1"/>
          <p:nvPr/>
        </p:nvSpPr>
        <p:spPr>
          <a:xfrm>
            <a:off x="731520" y="4754880"/>
            <a:ext cx="3200400" cy="274320"/>
          </a:xfrm>
          <a:prstGeom prst="rect">
            <a:avLst/>
          </a:prstGeom>
          <a:noFill/>
          <a:ln/>
        </p:spPr>
        <p:txBody>
          <a:bodyPr wrap="square" lIns="0" tIns="0" rIns="0" bIns="0" rtlCol="0" anchor="ctr"/>
          <a:lstStyle/>
          <a:p>
            <a:pPr indent="0" marL="0">
              <a:buNone/>
            </a:pPr>
            <a:r>
              <a:rPr lang="en-US" sz="1200" dirty="0">
                <a:solidFill>
                  <a:srgbClr val="5A6270"/>
                </a:solidFill>
              </a:rPr>
              <a:t>Weighted score  </a:t>
            </a:r>
            <a:pPr indent="0" marL="0">
              <a:buNone/>
            </a:pPr>
            <a:r>
              <a:rPr lang="en-US" sz="2000" b="1" dirty="0">
                <a:solidFill>
                  <a:srgbClr val="5A6270"/>
                </a:solidFill>
              </a:rPr>
              <a:t>3.43</a:t>
            </a:r>
            <a:endParaRPr lang="en-US" sz="1400" dirty="0"/>
          </a:p>
        </p:txBody>
      </p:sp>
      <p:sp>
        <p:nvSpPr>
          <p:cNvPr id="16" name="option B card"/>
          <p:cNvSpPr/>
          <p:nvPr/>
        </p:nvSpPr>
        <p:spPr>
          <a:xfrm>
            <a:off x="4297680" y="1463040"/>
            <a:ext cx="3566160" cy="3611880"/>
          </a:xfrm>
          <a:prstGeom prst="rect">
            <a:avLst/>
          </a:prstGeom>
          <a:solidFill>
            <a:srgbClr val="FFFFFF"/>
          </a:solidFill>
          <a:ln w="25400">
            <a:solidFill>
              <a:srgbClr val="1F3A5F"/>
            </a:solidFill>
            <a:prstDash val="solid"/>
          </a:ln>
        </p:spPr>
      </p:sp>
      <p:sp>
        <p:nvSpPr>
          <p:cNvPr id="17" name="Text 15"/>
          <p:cNvSpPr txBox="1"/>
          <p:nvPr/>
        </p:nvSpPr>
        <p:spPr>
          <a:xfrm>
            <a:off x="4480560" y="1600200"/>
            <a:ext cx="457200" cy="457200"/>
          </a:xfrm>
          <a:prstGeom prst="rect">
            <a:avLst/>
          </a:prstGeom>
          <a:noFill/>
          <a:ln/>
        </p:spPr>
        <p:txBody>
          <a:bodyPr wrap="square" lIns="0" tIns="0" rIns="0" bIns="0" rtlCol="0" anchor="ctr"/>
          <a:lstStyle/>
          <a:p>
            <a:pPr indent="0" marL="0">
              <a:buNone/>
            </a:pPr>
            <a:r>
              <a:rPr lang="en-US" sz="2800" b="1" dirty="0">
                <a:solidFill>
                  <a:srgbClr val="1F3A5F"/>
                </a:solidFill>
                <a:latin typeface="Cambria" pitchFamily="34" charset="0"/>
                <a:ea typeface="Cambria" pitchFamily="34" charset="-122"/>
                <a:cs typeface="Cambria" pitchFamily="34" charset="-120"/>
              </a:rPr>
              <a:t>B</a:t>
            </a:r>
            <a:endParaRPr lang="en-US" sz="2800" dirty="0"/>
          </a:p>
        </p:txBody>
      </p:sp>
      <p:sp>
        <p:nvSpPr>
          <p:cNvPr id="18" name="Text 16"/>
          <p:cNvSpPr txBox="1"/>
          <p:nvPr/>
        </p:nvSpPr>
        <p:spPr>
          <a:xfrm>
            <a:off x="4937760" y="1664208"/>
            <a:ext cx="2743200" cy="365760"/>
          </a:xfrm>
          <a:prstGeom prst="rect">
            <a:avLst/>
          </a:prstGeom>
          <a:noFill/>
          <a:ln/>
        </p:spPr>
        <p:txBody>
          <a:bodyPr wrap="square" lIns="0" tIns="0" rIns="0" bIns="0" rtlCol="0" anchor="ctr"/>
          <a:lstStyle/>
          <a:p>
            <a:pPr indent="0" marL="0">
              <a:buNone/>
            </a:pPr>
            <a:r>
              <a:rPr lang="en-US" sz="1600" b="1" dirty="0">
                <a:solidFill>
                  <a:srgbClr val="1F3A5F"/>
                </a:solidFill>
              </a:rPr>
              <a:t>Governed, Phased</a:t>
            </a:r>
            <a:endParaRPr lang="en-US" sz="1600" dirty="0"/>
          </a:p>
        </p:txBody>
      </p:sp>
      <p:sp>
        <p:nvSpPr>
          <p:cNvPr id="19" name="recommendation badge"/>
          <p:cNvSpPr/>
          <p:nvPr/>
        </p:nvSpPr>
        <p:spPr>
          <a:xfrm>
            <a:off x="4480560" y="2121408"/>
            <a:ext cx="2377440" cy="292608"/>
          </a:xfrm>
          <a:prstGeom prst="roundRect">
            <a:avLst>
              <a:gd name="adj" fmla="val 25000"/>
            </a:avLst>
          </a:prstGeom>
          <a:solidFill>
            <a:srgbClr val="1F3A5F"/>
          </a:solidFill>
          <a:ln w="12700">
            <a:solidFill>
              <a:srgbClr val="1F3A5F"/>
            </a:solidFill>
            <a:prstDash val="solid"/>
          </a:ln>
        </p:spPr>
      </p:sp>
      <p:sp>
        <p:nvSpPr>
          <p:cNvPr id="20" name="Text 18"/>
          <p:cNvSpPr txBox="1"/>
          <p:nvPr/>
        </p:nvSpPr>
        <p:spPr>
          <a:xfrm>
            <a:off x="4480560" y="2121408"/>
            <a:ext cx="2377440" cy="292608"/>
          </a:xfrm>
          <a:prstGeom prst="rect">
            <a:avLst/>
          </a:prstGeom>
          <a:noFill/>
          <a:ln/>
        </p:spPr>
        <p:txBody>
          <a:bodyPr wrap="square" lIns="0" tIns="0" rIns="0" bIns="0" rtlCol="0" anchor="ctr"/>
          <a:lstStyle/>
          <a:p>
            <a:pPr algn="ctr" indent="0" marL="0">
              <a:buNone/>
            </a:pPr>
            <a:r>
              <a:rPr lang="en-US" sz="1200" b="1" dirty="0">
                <a:solidFill>
                  <a:srgbClr val="FFFFFF"/>
                </a:solidFill>
              </a:rPr>
              <a:t>Provisional recommendation</a:t>
            </a:r>
            <a:endParaRPr lang="en-US" sz="1200" dirty="0"/>
          </a:p>
        </p:txBody>
      </p:sp>
      <p:sp>
        <p:nvSpPr>
          <p:cNvPr id="21" name="Text 19"/>
          <p:cNvSpPr txBox="1"/>
          <p:nvPr/>
        </p:nvSpPr>
        <p:spPr>
          <a:xfrm>
            <a:off x="4480560" y="2514600"/>
            <a:ext cx="822960" cy="502920"/>
          </a:xfrm>
          <a:prstGeom prst="rect">
            <a:avLst/>
          </a:prstGeom>
          <a:noFill/>
          <a:ln/>
        </p:spPr>
        <p:txBody>
          <a:bodyPr wrap="square" lIns="0" tIns="0" rIns="0" bIns="0" rtlCol="0" anchor="t"/>
          <a:lstStyle/>
          <a:p>
            <a:pPr indent="0" marL="0">
              <a:buNone/>
            </a:pPr>
            <a:r>
              <a:rPr lang="en-US" sz="1800" b="1" dirty="0">
                <a:solidFill>
                  <a:srgbClr val="2E7D6E"/>
                </a:solidFill>
              </a:rPr>
              <a:t>+</a:t>
            </a:r>
            <a:endParaRPr lang="en-US" sz="1800" dirty="0"/>
          </a:p>
        </p:txBody>
      </p:sp>
      <p:sp>
        <p:nvSpPr>
          <p:cNvPr id="22" name="Text 20"/>
          <p:cNvSpPr txBox="1"/>
          <p:nvPr/>
        </p:nvSpPr>
        <p:spPr>
          <a:xfrm>
            <a:off x="5303520" y="2514600"/>
            <a:ext cx="2423160" cy="530352"/>
          </a:xfrm>
          <a:prstGeom prst="rect">
            <a:avLst/>
          </a:prstGeom>
          <a:noFill/>
          <a:ln/>
        </p:spPr>
        <p:txBody>
          <a:bodyPr wrap="square" lIns="0" tIns="0" rIns="0" bIns="0" rtlCol="0" anchor="t"/>
          <a:lstStyle/>
          <a:p>
            <a:pPr indent="0" marL="0">
              <a:buNone/>
            </a:pPr>
            <a:r>
              <a:rPr lang="en-US" sz="1300" dirty="0">
                <a:solidFill>
                  <a:srgbClr val="1B2430"/>
                </a:solidFill>
              </a:rPr>
              <a:t>Reusable controls and shared capabilities lower cost of later use cases</a:t>
            </a:r>
            <a:endParaRPr lang="en-US" sz="1300" dirty="0"/>
          </a:p>
        </p:txBody>
      </p:sp>
      <p:sp>
        <p:nvSpPr>
          <p:cNvPr id="23" name="Text 21"/>
          <p:cNvSpPr txBox="1"/>
          <p:nvPr/>
        </p:nvSpPr>
        <p:spPr>
          <a:xfrm>
            <a:off x="4480560" y="3081528"/>
            <a:ext cx="822960" cy="502920"/>
          </a:xfrm>
          <a:prstGeom prst="rect">
            <a:avLst/>
          </a:prstGeom>
          <a:noFill/>
          <a:ln/>
        </p:spPr>
        <p:txBody>
          <a:bodyPr wrap="square" lIns="0" tIns="0" rIns="0" bIns="0" rtlCol="0" anchor="t"/>
          <a:lstStyle/>
          <a:p>
            <a:pPr indent="0" marL="0">
              <a:buNone/>
            </a:pPr>
            <a:r>
              <a:rPr lang="en-US" sz="1800" b="1" dirty="0">
                <a:solidFill>
                  <a:srgbClr val="B23B3B"/>
                </a:solidFill>
              </a:rPr>
              <a:t>−</a:t>
            </a:r>
            <a:endParaRPr lang="en-US" sz="1800" dirty="0"/>
          </a:p>
        </p:txBody>
      </p:sp>
      <p:sp>
        <p:nvSpPr>
          <p:cNvPr id="24" name="Text 22"/>
          <p:cNvSpPr txBox="1"/>
          <p:nvPr/>
        </p:nvSpPr>
        <p:spPr>
          <a:xfrm>
            <a:off x="5303520" y="3081528"/>
            <a:ext cx="2423160" cy="530352"/>
          </a:xfrm>
          <a:prstGeom prst="rect">
            <a:avLst/>
          </a:prstGeom>
          <a:noFill/>
          <a:ln/>
        </p:spPr>
        <p:txBody>
          <a:bodyPr wrap="square" lIns="0" tIns="0" rIns="0" bIns="0" rtlCol="0" anchor="t"/>
          <a:lstStyle/>
          <a:p>
            <a:pPr indent="0" marL="0">
              <a:buNone/>
            </a:pPr>
            <a:r>
              <a:rPr lang="en-US" sz="1300" dirty="0">
                <a:solidFill>
                  <a:srgbClr val="1B2430"/>
                </a:solidFill>
              </a:rPr>
              <a:t>~$1.4M more than A over 3 years; needs specialist release</a:t>
            </a:r>
            <a:endParaRPr lang="en-US" sz="1300" dirty="0"/>
          </a:p>
        </p:txBody>
      </p:sp>
      <p:sp>
        <p:nvSpPr>
          <p:cNvPr id="25" name="Text 23"/>
          <p:cNvSpPr txBox="1"/>
          <p:nvPr/>
        </p:nvSpPr>
        <p:spPr>
          <a:xfrm>
            <a:off x="4480560" y="3648456"/>
            <a:ext cx="822960" cy="502920"/>
          </a:xfrm>
          <a:prstGeom prst="rect">
            <a:avLst/>
          </a:prstGeom>
          <a:noFill/>
          <a:ln/>
        </p:spPr>
        <p:txBody>
          <a:bodyPr wrap="square" lIns="0" tIns="0" rIns="0" bIns="0" rtlCol="0" anchor="t"/>
          <a:lstStyle/>
          <a:p>
            <a:pPr indent="0" marL="0">
              <a:buNone/>
            </a:pPr>
            <a:r>
              <a:rPr lang="en-US" sz="1100" b="1" dirty="0">
                <a:solidFill>
                  <a:srgbClr val="5A6270"/>
                </a:solidFill>
              </a:rPr>
              <a:t>Capacity</a:t>
            </a:r>
            <a:endParaRPr lang="en-US" sz="1100" dirty="0"/>
          </a:p>
        </p:txBody>
      </p:sp>
      <p:sp>
        <p:nvSpPr>
          <p:cNvPr id="26" name="Text 24"/>
          <p:cNvSpPr txBox="1"/>
          <p:nvPr/>
        </p:nvSpPr>
        <p:spPr>
          <a:xfrm>
            <a:off x="5303520" y="3648456"/>
            <a:ext cx="2423160" cy="530352"/>
          </a:xfrm>
          <a:prstGeom prst="rect">
            <a:avLst/>
          </a:prstGeom>
          <a:noFill/>
          <a:ln/>
        </p:spPr>
        <p:txBody>
          <a:bodyPr wrap="square" lIns="0" tIns="0" rIns="0" bIns="0" rtlCol="0" anchor="t"/>
          <a:lstStyle/>
          <a:p>
            <a:pPr indent="0" marL="0">
              <a:buNone/>
            </a:pPr>
            <a:r>
              <a:rPr lang="en-US" sz="1300" dirty="0">
                <a:solidFill>
                  <a:srgbClr val="1B2430"/>
                </a:solidFill>
              </a:rPr>
              <a:t>14,000 IT hours (4,600 specialist)</a:t>
            </a:r>
            <a:endParaRPr lang="en-US" sz="1300" dirty="0"/>
          </a:p>
        </p:txBody>
      </p:sp>
      <p:sp>
        <p:nvSpPr>
          <p:cNvPr id="27" name="Text 25"/>
          <p:cNvSpPr txBox="1"/>
          <p:nvPr/>
        </p:nvSpPr>
        <p:spPr>
          <a:xfrm>
            <a:off x="4480560" y="4215384"/>
            <a:ext cx="822960" cy="502920"/>
          </a:xfrm>
          <a:prstGeom prst="rect">
            <a:avLst/>
          </a:prstGeom>
          <a:noFill/>
          <a:ln/>
        </p:spPr>
        <p:txBody>
          <a:bodyPr wrap="square" lIns="0" tIns="0" rIns="0" bIns="0" rtlCol="0" anchor="t"/>
          <a:lstStyle/>
          <a:p>
            <a:pPr indent="0" marL="0">
              <a:buNone/>
            </a:pPr>
            <a:r>
              <a:rPr lang="en-US" sz="1100" b="1" dirty="0">
                <a:solidFill>
                  <a:srgbClr val="5A6270"/>
                </a:solidFill>
              </a:rPr>
              <a:t>Exposure</a:t>
            </a:r>
            <a:endParaRPr lang="en-US" sz="1100" dirty="0"/>
          </a:p>
        </p:txBody>
      </p:sp>
      <p:sp>
        <p:nvSpPr>
          <p:cNvPr id="28" name="Text 26"/>
          <p:cNvSpPr txBox="1"/>
          <p:nvPr/>
        </p:nvSpPr>
        <p:spPr>
          <a:xfrm>
            <a:off x="5303520" y="4215384"/>
            <a:ext cx="2423160" cy="530352"/>
          </a:xfrm>
          <a:prstGeom prst="rect">
            <a:avLst/>
          </a:prstGeom>
          <a:noFill/>
          <a:ln/>
        </p:spPr>
        <p:txBody>
          <a:bodyPr wrap="square" lIns="0" tIns="0" rIns="0" bIns="0" rtlCol="0" anchor="t"/>
          <a:lstStyle/>
          <a:p>
            <a:pPr indent="0" marL="0">
              <a:buNone/>
            </a:pPr>
            <a:r>
              <a:rPr lang="en-US" sz="1300" dirty="0">
                <a:solidFill>
                  <a:srgbClr val="1B2430"/>
                </a:solidFill>
              </a:rPr>
              <a:t>$3.75M FY27  |  $7.75M 3-yr</a:t>
            </a:r>
            <a:endParaRPr lang="en-US" sz="1300" dirty="0"/>
          </a:p>
        </p:txBody>
      </p:sp>
      <p:sp>
        <p:nvSpPr>
          <p:cNvPr id="29" name="Text 27"/>
          <p:cNvSpPr txBox="1"/>
          <p:nvPr/>
        </p:nvSpPr>
        <p:spPr>
          <a:xfrm>
            <a:off x="4480560" y="4754880"/>
            <a:ext cx="3200400" cy="274320"/>
          </a:xfrm>
          <a:prstGeom prst="rect">
            <a:avLst/>
          </a:prstGeom>
          <a:noFill/>
          <a:ln/>
        </p:spPr>
        <p:txBody>
          <a:bodyPr wrap="square" lIns="0" tIns="0" rIns="0" bIns="0" rtlCol="0" anchor="ctr"/>
          <a:lstStyle/>
          <a:p>
            <a:pPr indent="0" marL="0">
              <a:buNone/>
            </a:pPr>
            <a:r>
              <a:rPr lang="en-US" sz="1200" dirty="0">
                <a:solidFill>
                  <a:srgbClr val="5A6270"/>
                </a:solidFill>
              </a:rPr>
              <a:t>Weighted score  </a:t>
            </a:r>
            <a:pPr indent="0" marL="0">
              <a:buNone/>
            </a:pPr>
            <a:r>
              <a:rPr lang="en-US" sz="2000" b="1" dirty="0">
                <a:solidFill>
                  <a:srgbClr val="1F3A5F"/>
                </a:solidFill>
              </a:rPr>
              <a:t>3.52</a:t>
            </a:r>
            <a:endParaRPr lang="en-US" sz="1400" dirty="0"/>
          </a:p>
        </p:txBody>
      </p:sp>
      <p:sp>
        <p:nvSpPr>
          <p:cNvPr id="30" name="option C card"/>
          <p:cNvSpPr/>
          <p:nvPr/>
        </p:nvSpPr>
        <p:spPr>
          <a:xfrm>
            <a:off x="8046720" y="1463040"/>
            <a:ext cx="3566160" cy="3611880"/>
          </a:xfrm>
          <a:prstGeom prst="rect">
            <a:avLst/>
          </a:prstGeom>
          <a:solidFill>
            <a:srgbClr val="EEF2F7"/>
          </a:solidFill>
          <a:ln w="9525">
            <a:solidFill>
              <a:srgbClr val="EEF2F7"/>
            </a:solidFill>
            <a:prstDash val="solid"/>
          </a:ln>
        </p:spPr>
      </p:sp>
      <p:sp>
        <p:nvSpPr>
          <p:cNvPr id="31" name="Text 29"/>
          <p:cNvSpPr txBox="1"/>
          <p:nvPr/>
        </p:nvSpPr>
        <p:spPr>
          <a:xfrm>
            <a:off x="8229600" y="1600200"/>
            <a:ext cx="457200" cy="457200"/>
          </a:xfrm>
          <a:prstGeom prst="rect">
            <a:avLst/>
          </a:prstGeom>
          <a:noFill/>
          <a:ln/>
        </p:spPr>
        <p:txBody>
          <a:bodyPr wrap="square" lIns="0" tIns="0" rIns="0" bIns="0" rtlCol="0" anchor="ctr"/>
          <a:lstStyle/>
          <a:p>
            <a:pPr indent="0" marL="0">
              <a:buNone/>
            </a:pPr>
            <a:r>
              <a:rPr lang="en-US" sz="2800" b="1" dirty="0">
                <a:solidFill>
                  <a:srgbClr val="5A6270"/>
                </a:solidFill>
                <a:latin typeface="Cambria" pitchFamily="34" charset="0"/>
                <a:ea typeface="Cambria" pitchFamily="34" charset="-122"/>
                <a:cs typeface="Cambria" pitchFamily="34" charset="-120"/>
              </a:rPr>
              <a:t>C</a:t>
            </a:r>
            <a:endParaRPr lang="en-US" sz="2800" dirty="0"/>
          </a:p>
        </p:txBody>
      </p:sp>
      <p:sp>
        <p:nvSpPr>
          <p:cNvPr id="32" name="Text 30"/>
          <p:cNvSpPr txBox="1"/>
          <p:nvPr/>
        </p:nvSpPr>
        <p:spPr>
          <a:xfrm>
            <a:off x="8686800" y="1664208"/>
            <a:ext cx="2743200" cy="365760"/>
          </a:xfrm>
          <a:prstGeom prst="rect">
            <a:avLst/>
          </a:prstGeom>
          <a:noFill/>
          <a:ln/>
        </p:spPr>
        <p:txBody>
          <a:bodyPr wrap="square" lIns="0" tIns="0" rIns="0" bIns="0" rtlCol="0" anchor="ctr"/>
          <a:lstStyle/>
          <a:p>
            <a:pPr indent="0" marL="0">
              <a:buNone/>
            </a:pPr>
            <a:r>
              <a:rPr lang="en-US" sz="1600" b="1" dirty="0">
                <a:solidFill>
                  <a:srgbClr val="1F3A5F"/>
                </a:solidFill>
              </a:rPr>
              <a:t>Platform-First</a:t>
            </a:r>
            <a:endParaRPr lang="en-US" sz="1600" dirty="0"/>
          </a:p>
        </p:txBody>
      </p:sp>
      <p:sp>
        <p:nvSpPr>
          <p:cNvPr id="33" name="Text 31"/>
          <p:cNvSpPr txBox="1"/>
          <p:nvPr/>
        </p:nvSpPr>
        <p:spPr>
          <a:xfrm>
            <a:off x="8229600" y="2514600"/>
            <a:ext cx="822960" cy="502920"/>
          </a:xfrm>
          <a:prstGeom prst="rect">
            <a:avLst/>
          </a:prstGeom>
          <a:noFill/>
          <a:ln/>
        </p:spPr>
        <p:txBody>
          <a:bodyPr wrap="square" lIns="0" tIns="0" rIns="0" bIns="0" rtlCol="0" anchor="t"/>
          <a:lstStyle/>
          <a:p>
            <a:pPr indent="0" marL="0">
              <a:buNone/>
            </a:pPr>
            <a:r>
              <a:rPr lang="en-US" sz="1800" b="1" dirty="0">
                <a:solidFill>
                  <a:srgbClr val="2E7D6E"/>
                </a:solidFill>
              </a:rPr>
              <a:t>+</a:t>
            </a:r>
            <a:endParaRPr lang="en-US" sz="1800" dirty="0"/>
          </a:p>
        </p:txBody>
      </p:sp>
      <p:sp>
        <p:nvSpPr>
          <p:cNvPr id="34" name="Text 32"/>
          <p:cNvSpPr txBox="1"/>
          <p:nvPr/>
        </p:nvSpPr>
        <p:spPr>
          <a:xfrm>
            <a:off x="9052560" y="2514600"/>
            <a:ext cx="2423160" cy="530352"/>
          </a:xfrm>
          <a:prstGeom prst="rect">
            <a:avLst/>
          </a:prstGeom>
          <a:noFill/>
          <a:ln/>
        </p:spPr>
        <p:txBody>
          <a:bodyPr wrap="square" lIns="0" tIns="0" rIns="0" bIns="0" rtlCol="0" anchor="t"/>
          <a:lstStyle/>
          <a:p>
            <a:pPr indent="0" marL="0">
              <a:buNone/>
            </a:pPr>
            <a:r>
              <a:rPr lang="en-US" sz="1300" dirty="0">
                <a:solidFill>
                  <a:srgbClr val="1B2430"/>
                </a:solidFill>
              </a:rPr>
              <a:t>Strongest long-term foundation</a:t>
            </a:r>
            <a:endParaRPr lang="en-US" sz="1300" dirty="0"/>
          </a:p>
        </p:txBody>
      </p:sp>
      <p:sp>
        <p:nvSpPr>
          <p:cNvPr id="35" name="Text 33"/>
          <p:cNvSpPr txBox="1"/>
          <p:nvPr/>
        </p:nvSpPr>
        <p:spPr>
          <a:xfrm>
            <a:off x="8229600" y="3081528"/>
            <a:ext cx="822960" cy="502920"/>
          </a:xfrm>
          <a:prstGeom prst="rect">
            <a:avLst/>
          </a:prstGeom>
          <a:noFill/>
          <a:ln/>
        </p:spPr>
        <p:txBody>
          <a:bodyPr wrap="square" lIns="0" tIns="0" rIns="0" bIns="0" rtlCol="0" anchor="t"/>
          <a:lstStyle/>
          <a:p>
            <a:pPr indent="0" marL="0">
              <a:buNone/>
            </a:pPr>
            <a:r>
              <a:rPr lang="en-US" sz="1800" b="1" dirty="0">
                <a:solidFill>
                  <a:srgbClr val="B23B3B"/>
                </a:solidFill>
              </a:rPr>
              <a:t>−</a:t>
            </a:r>
            <a:endParaRPr lang="en-US" sz="1800" dirty="0"/>
          </a:p>
        </p:txBody>
      </p:sp>
      <p:sp>
        <p:nvSpPr>
          <p:cNvPr id="36" name="Text 34"/>
          <p:cNvSpPr txBox="1"/>
          <p:nvPr/>
        </p:nvSpPr>
        <p:spPr>
          <a:xfrm>
            <a:off x="9052560" y="3081528"/>
            <a:ext cx="2423160" cy="530352"/>
          </a:xfrm>
          <a:prstGeom prst="rect">
            <a:avLst/>
          </a:prstGeom>
          <a:noFill/>
          <a:ln/>
        </p:spPr>
        <p:txBody>
          <a:bodyPr wrap="square" lIns="0" tIns="0" rIns="0" bIns="0" rtlCol="0" anchor="t"/>
          <a:lstStyle/>
          <a:p>
            <a:pPr indent="0" marL="0">
              <a:buNone/>
            </a:pPr>
            <a:r>
              <a:rPr lang="en-US" sz="1300" dirty="0">
                <a:solidFill>
                  <a:srgbClr val="1B2430"/>
                </a:solidFill>
              </a:rPr>
              <a:t>Value deferred to 2028; exceeds envelope</a:t>
            </a:r>
            <a:endParaRPr lang="en-US" sz="1300" dirty="0"/>
          </a:p>
        </p:txBody>
      </p:sp>
      <p:sp>
        <p:nvSpPr>
          <p:cNvPr id="37" name="Text 35"/>
          <p:cNvSpPr txBox="1"/>
          <p:nvPr/>
        </p:nvSpPr>
        <p:spPr>
          <a:xfrm>
            <a:off x="8229600" y="3648456"/>
            <a:ext cx="822960" cy="502920"/>
          </a:xfrm>
          <a:prstGeom prst="rect">
            <a:avLst/>
          </a:prstGeom>
          <a:noFill/>
          <a:ln/>
        </p:spPr>
        <p:txBody>
          <a:bodyPr wrap="square" lIns="0" tIns="0" rIns="0" bIns="0" rtlCol="0" anchor="t"/>
          <a:lstStyle/>
          <a:p>
            <a:pPr indent="0" marL="0">
              <a:buNone/>
            </a:pPr>
            <a:r>
              <a:rPr lang="en-US" sz="1100" b="1" dirty="0">
                <a:solidFill>
                  <a:srgbClr val="5A6270"/>
                </a:solidFill>
              </a:rPr>
              <a:t>Capacity</a:t>
            </a:r>
            <a:endParaRPr lang="en-US" sz="1100" dirty="0"/>
          </a:p>
        </p:txBody>
      </p:sp>
      <p:sp>
        <p:nvSpPr>
          <p:cNvPr id="38" name="Text 36"/>
          <p:cNvSpPr txBox="1"/>
          <p:nvPr/>
        </p:nvSpPr>
        <p:spPr>
          <a:xfrm>
            <a:off x="9052560" y="3648456"/>
            <a:ext cx="2423160" cy="530352"/>
          </a:xfrm>
          <a:prstGeom prst="rect">
            <a:avLst/>
          </a:prstGeom>
          <a:noFill/>
          <a:ln/>
        </p:spPr>
        <p:txBody>
          <a:bodyPr wrap="square" lIns="0" tIns="0" rIns="0" bIns="0" rtlCol="0" anchor="t"/>
          <a:lstStyle/>
          <a:p>
            <a:pPr indent="0" marL="0">
              <a:buNone/>
            </a:pPr>
            <a:r>
              <a:rPr lang="en-US" sz="1300" dirty="0">
                <a:solidFill>
                  <a:srgbClr val="1B2430"/>
                </a:solidFill>
              </a:rPr>
              <a:t>30,000 IT hours (~11,000 specialist)</a:t>
            </a:r>
            <a:endParaRPr lang="en-US" sz="1300" dirty="0"/>
          </a:p>
        </p:txBody>
      </p:sp>
      <p:sp>
        <p:nvSpPr>
          <p:cNvPr id="39" name="Text 37"/>
          <p:cNvSpPr txBox="1"/>
          <p:nvPr/>
        </p:nvSpPr>
        <p:spPr>
          <a:xfrm>
            <a:off x="8229600" y="4215384"/>
            <a:ext cx="822960" cy="502920"/>
          </a:xfrm>
          <a:prstGeom prst="rect">
            <a:avLst/>
          </a:prstGeom>
          <a:noFill/>
          <a:ln/>
        </p:spPr>
        <p:txBody>
          <a:bodyPr wrap="square" lIns="0" tIns="0" rIns="0" bIns="0" rtlCol="0" anchor="t"/>
          <a:lstStyle/>
          <a:p>
            <a:pPr indent="0" marL="0">
              <a:buNone/>
            </a:pPr>
            <a:r>
              <a:rPr lang="en-US" sz="1100" b="1" dirty="0">
                <a:solidFill>
                  <a:srgbClr val="5A6270"/>
                </a:solidFill>
              </a:rPr>
              <a:t>Exposure</a:t>
            </a:r>
            <a:endParaRPr lang="en-US" sz="1100" dirty="0"/>
          </a:p>
        </p:txBody>
      </p:sp>
      <p:sp>
        <p:nvSpPr>
          <p:cNvPr id="40" name="Text 38"/>
          <p:cNvSpPr txBox="1"/>
          <p:nvPr/>
        </p:nvSpPr>
        <p:spPr>
          <a:xfrm>
            <a:off x="9052560" y="4215384"/>
            <a:ext cx="2423160" cy="530352"/>
          </a:xfrm>
          <a:prstGeom prst="rect">
            <a:avLst/>
          </a:prstGeom>
          <a:noFill/>
          <a:ln/>
        </p:spPr>
        <p:txBody>
          <a:bodyPr wrap="square" lIns="0" tIns="0" rIns="0" bIns="0" rtlCol="0" anchor="t"/>
          <a:lstStyle/>
          <a:p>
            <a:pPr indent="0" marL="0">
              <a:buNone/>
            </a:pPr>
            <a:r>
              <a:rPr lang="en-US" sz="1300" dirty="0">
                <a:solidFill>
                  <a:srgbClr val="1B2430"/>
                </a:solidFill>
              </a:rPr>
              <a:t>$7.9M FY27  |  $12.3M 3-yr</a:t>
            </a:r>
            <a:endParaRPr lang="en-US" sz="1300" dirty="0"/>
          </a:p>
        </p:txBody>
      </p:sp>
      <p:sp>
        <p:nvSpPr>
          <p:cNvPr id="41" name="Text 39"/>
          <p:cNvSpPr txBox="1"/>
          <p:nvPr/>
        </p:nvSpPr>
        <p:spPr>
          <a:xfrm>
            <a:off x="8229600" y="4754880"/>
            <a:ext cx="3200400" cy="274320"/>
          </a:xfrm>
          <a:prstGeom prst="rect">
            <a:avLst/>
          </a:prstGeom>
          <a:noFill/>
          <a:ln/>
        </p:spPr>
        <p:txBody>
          <a:bodyPr wrap="square" lIns="0" tIns="0" rIns="0" bIns="0" rtlCol="0" anchor="ctr"/>
          <a:lstStyle/>
          <a:p>
            <a:pPr indent="0" marL="0">
              <a:buNone/>
            </a:pPr>
            <a:r>
              <a:rPr lang="en-US" sz="1200" dirty="0">
                <a:solidFill>
                  <a:srgbClr val="5A6270"/>
                </a:solidFill>
              </a:rPr>
              <a:t>Weighted score  </a:t>
            </a:r>
            <a:pPr indent="0" marL="0">
              <a:buNone/>
            </a:pPr>
            <a:r>
              <a:rPr lang="en-US" sz="2000" b="1" dirty="0">
                <a:solidFill>
                  <a:srgbClr val="5A6270"/>
                </a:solidFill>
              </a:rPr>
              <a:t>2.51</a:t>
            </a:r>
            <a:endParaRPr lang="en-US" sz="1400" dirty="0"/>
          </a:p>
        </p:txBody>
      </p:sp>
      <p:sp>
        <p:nvSpPr>
          <p:cNvPr id="42" name="change conditions"/>
          <p:cNvSpPr/>
          <p:nvPr/>
        </p:nvSpPr>
        <p:spPr>
          <a:xfrm>
            <a:off x="548640" y="5257800"/>
            <a:ext cx="11064240" cy="914400"/>
          </a:xfrm>
          <a:prstGeom prst="rect">
            <a:avLst/>
          </a:prstGeom>
          <a:solidFill>
            <a:srgbClr val="FBEFE3"/>
          </a:solidFill>
          <a:ln w="9525">
            <a:solidFill>
              <a:srgbClr val="FBEFE3"/>
            </a:solidFill>
            <a:prstDash val="solid"/>
          </a:ln>
        </p:spPr>
      </p:sp>
      <p:sp>
        <p:nvSpPr>
          <p:cNvPr id="43" name="Text 41"/>
          <p:cNvSpPr txBox="1"/>
          <p:nvPr/>
        </p:nvSpPr>
        <p:spPr>
          <a:xfrm>
            <a:off x="777240" y="5303520"/>
            <a:ext cx="10607040" cy="822960"/>
          </a:xfrm>
          <a:prstGeom prst="rect">
            <a:avLst/>
          </a:prstGeom>
          <a:noFill/>
          <a:ln/>
        </p:spPr>
        <p:txBody>
          <a:bodyPr wrap="square" lIns="0" tIns="0" rIns="0" bIns="0" rtlCol="0" anchor="ctr"/>
          <a:lstStyle/>
          <a:p>
            <a:pPr indent="0" marL="0">
              <a:buNone/>
            </a:pPr>
            <a:r>
              <a:rPr lang="en-US" sz="1400" b="1" dirty="0">
                <a:solidFill>
                  <a:srgbClr val="C2660A"/>
                </a:solidFill>
              </a:rPr>
              <a:t>The recommendation changes if: </a:t>
            </a:r>
            <a:pPr indent="0" marL="0">
              <a:buNone/>
            </a:pPr>
            <a:r>
              <a:rPr lang="en-US" sz="1400" dirty="0">
                <a:solidFill>
                  <a:srgbClr val="1B2430"/>
                </a:solidFill>
              </a:rPr>
              <a:t>HRHS has no pipeline beyond Wave 1, or weights speed over control (A wins);  specialist capacity cannot be validated (reduced B, else A);  capacity is freed and 15+ use cases are committed (C).  All options meet the same mandatory controls; the 0.09 gap is within judgment error.</a:t>
            </a:r>
            <a:endParaRPr lang="en-US" sz="1400" dirty="0"/>
          </a:p>
        </p:txBody>
      </p:sp>
      <p:sp>
        <p:nvSpPr>
          <p:cNvPr id="25" name="Slide Number Placeholder 0"/>
          <p:cNvSpPr>
            <a:spLocks noGrp="1"/>
          </p:cNvSpPr>
          <p:nvPr>
            <p:ph type="sldNum" sz="quarter" idx="4294967295"/>
          </p:nvPr>
        </p:nvSpPr>
        <p:spPr>
          <a:xfrm>
            <a:off x="1124712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320040"/>
          </a:xfrm>
          <a:prstGeom prst="rect">
            <a:avLst/>
          </a:prstGeom>
          <a:noFill/>
          <a:ln/>
        </p:spPr>
        <p:txBody>
          <a:bodyPr wrap="square" lIns="0" tIns="0" rIns="0" bIns="0" rtlCol="0"/>
          <a:lstStyle/>
          <a:p>
            <a:pPr indent="0" marL="0">
              <a:buNone/>
            </a:pPr>
            <a:r>
              <a:rPr lang="en-US" sz="1200" b="1" dirty="0">
                <a:solidFill>
                  <a:schemeClr val="accent2"/>
                </a:solidFill>
              </a:rPr>
              <a:t>4  |  THE ENGINEERING REALITY</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Can the organization actually deliver the decision?</a:t>
            </a:r>
            <a:endParaRPr lang="en-US" sz="3200" dirty="0"/>
          </a:p>
        </p:txBody>
      </p:sp>
      <p:sp>
        <p:nvSpPr>
          <p:cNvPr id="4" name="Text 2"/>
          <p:cNvSpPr txBox="1"/>
          <p:nvPr/>
        </p:nvSpPr>
        <p:spPr>
          <a:xfrm>
            <a:off x="548640" y="1417320"/>
            <a:ext cx="5120640" cy="274320"/>
          </a:xfrm>
          <a:prstGeom prst="rect">
            <a:avLst/>
          </a:prstGeom>
          <a:noFill/>
          <a:ln/>
        </p:spPr>
        <p:txBody>
          <a:bodyPr wrap="square" lIns="0" tIns="0" rIns="0" bIns="0" rtlCol="0" anchor="ctr"/>
          <a:lstStyle/>
          <a:p>
            <a:pPr indent="0" marL="0">
              <a:buNone/>
            </a:pPr>
            <a:r>
              <a:rPr lang="en-US" sz="1200" b="1" dirty="0">
                <a:solidFill>
                  <a:srgbClr val="C2660A"/>
                </a:solidFill>
              </a:rPr>
              <a:t>1  THE CONSTRAINT</a:t>
            </a:r>
            <a:endParaRPr lang="en-US" sz="1200" dirty="0"/>
          </a:p>
        </p:txBody>
      </p:sp>
      <p:sp>
        <p:nvSpPr>
          <p:cNvPr id="5" name="constraint panel"/>
          <p:cNvSpPr/>
          <p:nvPr/>
        </p:nvSpPr>
        <p:spPr>
          <a:xfrm>
            <a:off x="548640" y="1737360"/>
            <a:ext cx="5120640" cy="3291840"/>
          </a:xfrm>
          <a:prstGeom prst="rect">
            <a:avLst/>
          </a:prstGeom>
          <a:solidFill>
            <a:srgbClr val="EEF2F7"/>
          </a:solidFill>
          <a:ln w="9525">
            <a:solidFill>
              <a:srgbClr val="EEF2F7"/>
            </a:solidFill>
            <a:prstDash val="solid"/>
          </a:ln>
        </p:spPr>
      </p:sp>
      <p:sp>
        <p:nvSpPr>
          <p:cNvPr id="6" name="Text 4"/>
          <p:cNvSpPr txBox="1"/>
          <p:nvPr/>
        </p:nvSpPr>
        <p:spPr>
          <a:xfrm>
            <a:off x="777240" y="1828800"/>
            <a:ext cx="2377440" cy="822960"/>
          </a:xfrm>
          <a:prstGeom prst="rect">
            <a:avLst/>
          </a:prstGeom>
          <a:noFill/>
          <a:ln/>
        </p:spPr>
        <p:txBody>
          <a:bodyPr wrap="square" lIns="0" tIns="0" rIns="0" bIns="0" rtlCol="0" anchor="ctr"/>
          <a:lstStyle/>
          <a:p>
            <a:pPr indent="0" marL="0">
              <a:buNone/>
            </a:pPr>
            <a:r>
              <a:rPr lang="en-US" sz="5400" b="1" dirty="0">
                <a:solidFill>
                  <a:srgbClr val="B23B3B"/>
                </a:solidFill>
                <a:latin typeface="Cambria" pitchFamily="34" charset="0"/>
                <a:ea typeface="Cambria" pitchFamily="34" charset="-122"/>
                <a:cs typeface="Cambria" pitchFamily="34" charset="-120"/>
              </a:rPr>
              <a:t>1,700</a:t>
            </a:r>
            <a:endParaRPr lang="en-US" sz="5400" dirty="0"/>
          </a:p>
        </p:txBody>
      </p:sp>
      <p:sp>
        <p:nvSpPr>
          <p:cNvPr id="7" name="Text 5"/>
          <p:cNvSpPr txBox="1"/>
          <p:nvPr/>
        </p:nvSpPr>
        <p:spPr>
          <a:xfrm>
            <a:off x="3108960" y="1920240"/>
            <a:ext cx="2377440" cy="731520"/>
          </a:xfrm>
          <a:prstGeom prst="rect">
            <a:avLst/>
          </a:prstGeom>
          <a:noFill/>
          <a:ln/>
        </p:spPr>
        <p:txBody>
          <a:bodyPr wrap="square" lIns="0" tIns="0" rIns="0" bIns="0" rtlCol="0" anchor="ctr"/>
          <a:lstStyle/>
          <a:p>
            <a:pPr indent="0" marL="0">
              <a:buNone/>
            </a:pPr>
            <a:r>
              <a:rPr lang="en-US" sz="1400" dirty="0">
                <a:solidFill>
                  <a:srgbClr val="1B2430"/>
                </a:solidFill>
              </a:rPr>
              <a:t>specialist hours unavailable when Wave 1 needs them (Days 1 to 120)</a:t>
            </a:r>
            <a:endParaRPr lang="en-US" sz="1400" dirty="0"/>
          </a:p>
        </p:txBody>
      </p:sp>
      <p:sp>
        <p:nvSpPr>
          <p:cNvPr id="8" name="Text 6"/>
          <p:cNvSpPr txBox="1"/>
          <p:nvPr/>
        </p:nvSpPr>
        <p:spPr>
          <a:xfrm>
            <a:off x="777240" y="2834640"/>
            <a:ext cx="1371600" cy="365760"/>
          </a:xfrm>
          <a:prstGeom prst="rect">
            <a:avLst/>
          </a:prstGeom>
          <a:noFill/>
          <a:ln/>
        </p:spPr>
        <p:txBody>
          <a:bodyPr wrap="square" lIns="0" tIns="0" rIns="0" bIns="0" rtlCol="0" anchor="ctr"/>
          <a:lstStyle/>
          <a:p>
            <a:pPr indent="0" marL="0">
              <a:buNone/>
            </a:pPr>
            <a:r>
              <a:rPr lang="en-US" sz="1400" b="1" dirty="0">
                <a:solidFill>
                  <a:srgbClr val="1B2430"/>
                </a:solidFill>
              </a:rPr>
              <a:t>Needed</a:t>
            </a:r>
            <a:endParaRPr lang="en-US" sz="1400" dirty="0"/>
          </a:p>
        </p:txBody>
      </p:sp>
      <p:sp>
        <p:nvSpPr>
          <p:cNvPr id="9" name="needed bar"/>
          <p:cNvSpPr/>
          <p:nvPr/>
        </p:nvSpPr>
        <p:spPr>
          <a:xfrm>
            <a:off x="2103120" y="2880360"/>
            <a:ext cx="3291840" cy="292608"/>
          </a:xfrm>
          <a:prstGeom prst="rect">
            <a:avLst/>
          </a:prstGeom>
          <a:solidFill>
            <a:srgbClr val="1F3A5F"/>
          </a:solidFill>
          <a:ln w="9525">
            <a:solidFill>
              <a:srgbClr val="1F3A5F"/>
            </a:solidFill>
            <a:prstDash val="solid"/>
          </a:ln>
        </p:spPr>
      </p:sp>
      <p:sp>
        <p:nvSpPr>
          <p:cNvPr id="10" name="Text 8"/>
          <p:cNvSpPr txBox="1"/>
          <p:nvPr/>
        </p:nvSpPr>
        <p:spPr>
          <a:xfrm>
            <a:off x="2194560" y="2880360"/>
            <a:ext cx="1097280" cy="292608"/>
          </a:xfrm>
          <a:prstGeom prst="rect">
            <a:avLst/>
          </a:prstGeom>
          <a:noFill/>
          <a:ln/>
        </p:spPr>
        <p:txBody>
          <a:bodyPr wrap="square" lIns="0" tIns="0" rIns="0" bIns="0" rtlCol="0" anchor="ctr"/>
          <a:lstStyle/>
          <a:p>
            <a:pPr indent="0" marL="0">
              <a:buNone/>
            </a:pPr>
            <a:r>
              <a:rPr lang="en-US" sz="1300" b="1" dirty="0">
                <a:solidFill>
                  <a:srgbClr val="FFFFFF"/>
                </a:solidFill>
              </a:rPr>
              <a:t>2,600</a:t>
            </a:r>
            <a:endParaRPr lang="en-US" sz="1300" dirty="0"/>
          </a:p>
        </p:txBody>
      </p:sp>
      <p:sp>
        <p:nvSpPr>
          <p:cNvPr id="11" name="Text 9"/>
          <p:cNvSpPr txBox="1"/>
          <p:nvPr/>
        </p:nvSpPr>
        <p:spPr>
          <a:xfrm>
            <a:off x="777240" y="3291840"/>
            <a:ext cx="1371600" cy="365760"/>
          </a:xfrm>
          <a:prstGeom prst="rect">
            <a:avLst/>
          </a:prstGeom>
          <a:noFill/>
          <a:ln/>
        </p:spPr>
        <p:txBody>
          <a:bodyPr wrap="square" lIns="0" tIns="0" rIns="0" bIns="0" rtlCol="0" anchor="ctr"/>
          <a:lstStyle/>
          <a:p>
            <a:pPr indent="0" marL="0">
              <a:buNone/>
            </a:pPr>
            <a:r>
              <a:rPr lang="en-US" sz="1400" b="1" dirty="0">
                <a:solidFill>
                  <a:srgbClr val="1B2430"/>
                </a:solidFill>
              </a:rPr>
              <a:t>Available</a:t>
            </a:r>
            <a:endParaRPr lang="en-US" sz="1400" dirty="0"/>
          </a:p>
        </p:txBody>
      </p:sp>
      <p:sp>
        <p:nvSpPr>
          <p:cNvPr id="12" name="available bar"/>
          <p:cNvSpPr/>
          <p:nvPr/>
        </p:nvSpPr>
        <p:spPr>
          <a:xfrm>
            <a:off x="2103120" y="3337560"/>
            <a:ext cx="1143000" cy="292608"/>
          </a:xfrm>
          <a:prstGeom prst="rect">
            <a:avLst/>
          </a:prstGeom>
          <a:solidFill>
            <a:srgbClr val="C2660A"/>
          </a:solidFill>
          <a:ln w="9525">
            <a:solidFill>
              <a:srgbClr val="C2660A"/>
            </a:solidFill>
            <a:prstDash val="solid"/>
          </a:ln>
        </p:spPr>
      </p:sp>
      <p:sp>
        <p:nvSpPr>
          <p:cNvPr id="13" name="Text 11"/>
          <p:cNvSpPr txBox="1"/>
          <p:nvPr/>
        </p:nvSpPr>
        <p:spPr>
          <a:xfrm>
            <a:off x="2194560" y="3337560"/>
            <a:ext cx="914400" cy="292608"/>
          </a:xfrm>
          <a:prstGeom prst="rect">
            <a:avLst/>
          </a:prstGeom>
          <a:noFill/>
          <a:ln/>
        </p:spPr>
        <p:txBody>
          <a:bodyPr wrap="square" lIns="0" tIns="0" rIns="0" bIns="0" rtlCol="0" anchor="ctr"/>
          <a:lstStyle/>
          <a:p>
            <a:pPr indent="0" marL="0">
              <a:buNone/>
            </a:pPr>
            <a:r>
              <a:rPr lang="en-US" sz="1300" b="1" dirty="0">
                <a:solidFill>
                  <a:srgbClr val="FFFFFF"/>
                </a:solidFill>
              </a:rPr>
              <a:t>900</a:t>
            </a:r>
            <a:endParaRPr lang="en-US" sz="1300" dirty="0"/>
          </a:p>
        </p:txBody>
      </p:sp>
      <p:sp>
        <p:nvSpPr>
          <p:cNvPr id="14" name="Text 12"/>
          <p:cNvSpPr txBox="1"/>
          <p:nvPr/>
        </p:nvSpPr>
        <p:spPr>
          <a:xfrm>
            <a:off x="777240" y="3794760"/>
            <a:ext cx="4709160" cy="1143000"/>
          </a:xfrm>
          <a:prstGeom prst="rect">
            <a:avLst/>
          </a:prstGeom>
          <a:noFill/>
          <a:ln/>
        </p:spPr>
        <p:txBody>
          <a:bodyPr wrap="square" lIns="0" tIns="0" rIns="0" bIns="0" rtlCol="0" anchor="t"/>
          <a:lstStyle/>
          <a:p>
            <a:pPr indent="0" marL="0">
              <a:buNone/>
            </a:pPr>
            <a:r>
              <a:rPr lang="en-US" sz="1400" dirty="0">
                <a:solidFill>
                  <a:srgbClr val="1B2430"/>
                </a:solidFill>
              </a:rPr>
              <a:t>Hours exist in aggregate (14,000 planned). The skills and the delivery window do not: ERP conversion and EHR cutover hold the same specialists. Found in validation on Day 18 and escalated the same day.</a:t>
            </a:r>
            <a:endParaRPr lang="en-US" sz="1400" dirty="0"/>
          </a:p>
        </p:txBody>
      </p:sp>
      <p:sp>
        <p:nvSpPr>
          <p:cNvPr id="15" name="Text 13"/>
          <p:cNvSpPr txBox="1"/>
          <p:nvPr/>
        </p:nvSpPr>
        <p:spPr>
          <a:xfrm>
            <a:off x="6035040" y="1417320"/>
            <a:ext cx="5577840" cy="274320"/>
          </a:xfrm>
          <a:prstGeom prst="rect">
            <a:avLst/>
          </a:prstGeom>
          <a:noFill/>
          <a:ln/>
        </p:spPr>
        <p:txBody>
          <a:bodyPr wrap="square" lIns="0" tIns="0" rIns="0" bIns="0" rtlCol="0" anchor="ctr"/>
          <a:lstStyle/>
          <a:p>
            <a:pPr indent="0" marL="0">
              <a:buNone/>
            </a:pPr>
            <a:r>
              <a:rPr lang="en-US" sz="1200" b="1" dirty="0">
                <a:solidFill>
                  <a:srgbClr val="C2660A"/>
                </a:solidFill>
              </a:rPr>
              <a:t>2  THE ALTERNATIVES</a:t>
            </a:r>
            <a:endParaRPr lang="en-US" sz="1200" dirty="0"/>
          </a:p>
        </p:txBody>
      </p:sp>
      <p:sp>
        <p:nvSpPr>
          <p:cNvPr id="16" name="alternative 1"/>
          <p:cNvSpPr/>
          <p:nvPr/>
        </p:nvSpPr>
        <p:spPr>
          <a:xfrm>
            <a:off x="6035040" y="1737360"/>
            <a:ext cx="5577840" cy="987552"/>
          </a:xfrm>
          <a:prstGeom prst="rect">
            <a:avLst/>
          </a:prstGeom>
          <a:solidFill>
            <a:srgbClr val="FFFFFF"/>
          </a:solidFill>
          <a:ln w="19050">
            <a:solidFill>
              <a:srgbClr val="1F3A5F"/>
            </a:solidFill>
            <a:prstDash val="solid"/>
          </a:ln>
        </p:spPr>
      </p:sp>
      <p:sp>
        <p:nvSpPr>
          <p:cNvPr id="17" name="alternative 1 marker"/>
          <p:cNvSpPr/>
          <p:nvPr/>
        </p:nvSpPr>
        <p:spPr>
          <a:xfrm>
            <a:off x="6217920" y="1984248"/>
            <a:ext cx="493776" cy="493776"/>
          </a:xfrm>
          <a:prstGeom prst="ellipse">
            <a:avLst/>
          </a:prstGeom>
          <a:solidFill>
            <a:srgbClr val="1F3A5F"/>
          </a:solidFill>
          <a:ln w="12700">
            <a:solidFill>
              <a:srgbClr val="1F3A5F"/>
            </a:solidFill>
            <a:prstDash val="solid"/>
          </a:ln>
        </p:spPr>
      </p:sp>
      <p:sp>
        <p:nvSpPr>
          <p:cNvPr id="18" name="Text 16"/>
          <p:cNvSpPr txBox="1"/>
          <p:nvPr/>
        </p:nvSpPr>
        <p:spPr>
          <a:xfrm>
            <a:off x="6217920" y="198424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9" name="Text 17"/>
          <p:cNvSpPr txBox="1"/>
          <p:nvPr/>
        </p:nvSpPr>
        <p:spPr>
          <a:xfrm>
            <a:off x="6903720" y="1828800"/>
            <a:ext cx="4572000" cy="822960"/>
          </a:xfrm>
          <a:prstGeom prst="rect">
            <a:avLst/>
          </a:prstGeom>
          <a:noFill/>
          <a:ln/>
        </p:spPr>
        <p:txBody>
          <a:bodyPr wrap="square" lIns="0" tIns="0" rIns="0" bIns="0" rtlCol="0" anchor="ctr"/>
          <a:lstStyle/>
          <a:p>
            <a:pPr indent="0" marL="0">
              <a:buNone/>
            </a:pPr>
            <a:r>
              <a:rPr lang="en-US" sz="1400" b="1" dirty="0">
                <a:solidFill>
                  <a:srgbClr val="1F3A5F"/>
                </a:solidFill>
              </a:rPr>
              <a:t>Sequence Wave 1</a:t>
            </a:r>
            <a:endParaRPr lang="en-US" sz="1400" dirty="0"/>
          </a:p>
          <a:p>
            <a:pPr indent="0" marL="0">
              <a:buNone/>
            </a:pPr>
            <a:r>
              <a:rPr lang="en-US" sz="1400" dirty="0">
                <a:solidFill>
                  <a:srgbClr val="1B2430"/>
                </a:solidFill>
              </a:rPr>
              <a:t>UC-01 now, UC-02 after ERP go-live: savings arrive ~4 months later</a:t>
            </a:r>
            <a:endParaRPr lang="en-US" sz="1400" dirty="0"/>
          </a:p>
        </p:txBody>
      </p:sp>
      <p:sp>
        <p:nvSpPr>
          <p:cNvPr id="20" name="alternative 2"/>
          <p:cNvSpPr/>
          <p:nvPr/>
        </p:nvSpPr>
        <p:spPr>
          <a:xfrm>
            <a:off x="6035040" y="2871216"/>
            <a:ext cx="5577840" cy="987552"/>
          </a:xfrm>
          <a:prstGeom prst="rect">
            <a:avLst/>
          </a:prstGeom>
          <a:solidFill>
            <a:srgbClr val="EEF2F7"/>
          </a:solidFill>
          <a:ln w="9525">
            <a:solidFill>
              <a:srgbClr val="EEF2F7"/>
            </a:solidFill>
            <a:prstDash val="solid"/>
          </a:ln>
        </p:spPr>
      </p:sp>
      <p:sp>
        <p:nvSpPr>
          <p:cNvPr id="21" name="alternative 2 marker"/>
          <p:cNvSpPr/>
          <p:nvPr/>
        </p:nvSpPr>
        <p:spPr>
          <a:xfrm>
            <a:off x="6217920" y="3118104"/>
            <a:ext cx="493776" cy="493776"/>
          </a:xfrm>
          <a:prstGeom prst="ellipse">
            <a:avLst/>
          </a:prstGeom>
          <a:solidFill>
            <a:srgbClr val="5A6270"/>
          </a:solidFill>
          <a:ln w="12700">
            <a:solidFill>
              <a:srgbClr val="5A6270"/>
            </a:solidFill>
            <a:prstDash val="solid"/>
          </a:ln>
        </p:spPr>
      </p:sp>
      <p:sp>
        <p:nvSpPr>
          <p:cNvPr id="22" name="Text 20"/>
          <p:cNvSpPr txBox="1"/>
          <p:nvPr/>
        </p:nvSpPr>
        <p:spPr>
          <a:xfrm>
            <a:off x="6217920" y="311810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3" name="Text 21"/>
          <p:cNvSpPr txBox="1"/>
          <p:nvPr/>
        </p:nvSpPr>
        <p:spPr>
          <a:xfrm>
            <a:off x="6903720" y="2962656"/>
            <a:ext cx="4572000" cy="822960"/>
          </a:xfrm>
          <a:prstGeom prst="rect">
            <a:avLst/>
          </a:prstGeom>
          <a:noFill/>
          <a:ln/>
        </p:spPr>
        <p:txBody>
          <a:bodyPr wrap="square" lIns="0" tIns="0" rIns="0" bIns="0" rtlCol="0" anchor="ctr"/>
          <a:lstStyle/>
          <a:p>
            <a:pPr indent="0" marL="0">
              <a:buNone/>
            </a:pPr>
            <a:r>
              <a:rPr lang="en-US" sz="1400" b="1" dirty="0">
                <a:solidFill>
                  <a:srgbClr val="1F3A5F"/>
                </a:solidFill>
              </a:rPr>
              <a:t>Reallocate engineering capacity</a:t>
            </a:r>
            <a:endParaRPr lang="en-US" sz="1400" dirty="0"/>
          </a:p>
          <a:p>
            <a:pPr indent="0" marL="0">
              <a:buNone/>
            </a:pPr>
            <a:r>
              <a:rPr lang="en-US" sz="1400" dirty="0">
                <a:solidFill>
                  <a:srgbClr val="1B2430"/>
                </a:solidFill>
              </a:rPr>
              <a:t>Holds the AI schedule, but puts the ERP go-live at risk</a:t>
            </a:r>
            <a:endParaRPr lang="en-US" sz="1400" dirty="0"/>
          </a:p>
        </p:txBody>
      </p:sp>
      <p:sp>
        <p:nvSpPr>
          <p:cNvPr id="24" name="alternative 3"/>
          <p:cNvSpPr/>
          <p:nvPr/>
        </p:nvSpPr>
        <p:spPr>
          <a:xfrm>
            <a:off x="6035040" y="4005072"/>
            <a:ext cx="5577840" cy="987552"/>
          </a:xfrm>
          <a:prstGeom prst="rect">
            <a:avLst/>
          </a:prstGeom>
          <a:solidFill>
            <a:srgbClr val="EEF2F7"/>
          </a:solidFill>
          <a:ln w="9525">
            <a:solidFill>
              <a:srgbClr val="EEF2F7"/>
            </a:solidFill>
            <a:prstDash val="solid"/>
          </a:ln>
        </p:spPr>
      </p:sp>
      <p:sp>
        <p:nvSpPr>
          <p:cNvPr id="25" name="alternative 3 marker"/>
          <p:cNvSpPr/>
          <p:nvPr/>
        </p:nvSpPr>
        <p:spPr>
          <a:xfrm>
            <a:off x="6217920" y="4251960"/>
            <a:ext cx="493776" cy="493776"/>
          </a:xfrm>
          <a:prstGeom prst="ellipse">
            <a:avLst/>
          </a:prstGeom>
          <a:solidFill>
            <a:srgbClr val="5A6270"/>
          </a:solidFill>
          <a:ln w="12700">
            <a:solidFill>
              <a:srgbClr val="5A6270"/>
            </a:solidFill>
            <a:prstDash val="solid"/>
          </a:ln>
        </p:spPr>
      </p:sp>
      <p:sp>
        <p:nvSpPr>
          <p:cNvPr id="26" name="Text 24"/>
          <p:cNvSpPr txBox="1"/>
          <p:nvPr/>
        </p:nvSpPr>
        <p:spPr>
          <a:xfrm>
            <a:off x="6217920" y="425196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7" name="Text 25"/>
          <p:cNvSpPr txBox="1"/>
          <p:nvPr/>
        </p:nvSpPr>
        <p:spPr>
          <a:xfrm>
            <a:off x="6903720" y="4096512"/>
            <a:ext cx="4572000" cy="822960"/>
          </a:xfrm>
          <a:prstGeom prst="rect">
            <a:avLst/>
          </a:prstGeom>
          <a:noFill/>
          <a:ln/>
        </p:spPr>
        <p:txBody>
          <a:bodyPr wrap="square" lIns="0" tIns="0" rIns="0" bIns="0" rtlCol="0" anchor="ctr"/>
          <a:lstStyle/>
          <a:p>
            <a:pPr indent="0" marL="0">
              <a:buNone/>
            </a:pPr>
            <a:r>
              <a:rPr lang="en-US" sz="1400" b="1" dirty="0">
                <a:solidFill>
                  <a:srgbClr val="1F3A5F"/>
                </a:solidFill>
              </a:rPr>
              <a:t>Purchase or source externally</a:t>
            </a:r>
            <a:endParaRPr lang="en-US" sz="1400" dirty="0"/>
          </a:p>
          <a:p>
            <a:pPr indent="0" marL="0">
              <a:buNone/>
            </a:pPr>
            <a:r>
              <a:rPr lang="en-US" sz="1400" dirty="0">
                <a:solidFill>
                  <a:srgbClr val="1B2430"/>
                </a:solidFill>
              </a:rPr>
              <a:t>Adds ~$0.35M and cannot start before ~Day 75</a:t>
            </a:r>
            <a:endParaRPr lang="en-US" sz="1400" dirty="0"/>
          </a:p>
        </p:txBody>
      </p:sp>
      <p:sp>
        <p:nvSpPr>
          <p:cNvPr id="28" name="decision banner"/>
          <p:cNvSpPr/>
          <p:nvPr/>
        </p:nvSpPr>
        <p:spPr>
          <a:xfrm>
            <a:off x="548640" y="5257800"/>
            <a:ext cx="11064240" cy="960120"/>
          </a:xfrm>
          <a:prstGeom prst="rect">
            <a:avLst/>
          </a:prstGeom>
          <a:solidFill>
            <a:srgbClr val="1F3A5F"/>
          </a:solidFill>
          <a:ln w="9525">
            <a:solidFill>
              <a:srgbClr val="1F3A5F"/>
            </a:solidFill>
            <a:prstDash val="solid"/>
          </a:ln>
        </p:spPr>
      </p:sp>
      <p:sp>
        <p:nvSpPr>
          <p:cNvPr id="29" name="Text 27"/>
          <p:cNvSpPr txBox="1"/>
          <p:nvPr/>
        </p:nvSpPr>
        <p:spPr>
          <a:xfrm>
            <a:off x="777240" y="5321808"/>
            <a:ext cx="2743200" cy="274320"/>
          </a:xfrm>
          <a:prstGeom prst="rect">
            <a:avLst/>
          </a:prstGeom>
          <a:noFill/>
          <a:ln/>
        </p:spPr>
        <p:txBody>
          <a:bodyPr wrap="square" lIns="0" tIns="0" rIns="0" bIns="0" rtlCol="0" anchor="ctr"/>
          <a:lstStyle/>
          <a:p>
            <a:pPr indent="0" marL="0">
              <a:buNone/>
            </a:pPr>
            <a:r>
              <a:rPr lang="en-US" sz="1200" b="1" dirty="0">
                <a:solidFill>
                  <a:srgbClr val="F2C08F"/>
                </a:solidFill>
              </a:rPr>
              <a:t>3  THE DECISION</a:t>
            </a:r>
            <a:endParaRPr lang="en-US" sz="1200" dirty="0"/>
          </a:p>
        </p:txBody>
      </p:sp>
      <p:sp>
        <p:nvSpPr>
          <p:cNvPr id="30" name="Text 28"/>
          <p:cNvSpPr txBox="1"/>
          <p:nvPr/>
        </p:nvSpPr>
        <p:spPr>
          <a:xfrm>
            <a:off x="777240" y="5577840"/>
            <a:ext cx="10607040" cy="566928"/>
          </a:xfrm>
          <a:prstGeom prst="rect">
            <a:avLst/>
          </a:prstGeom>
          <a:noFill/>
          <a:ln/>
        </p:spPr>
        <p:txBody>
          <a:bodyPr wrap="square" lIns="0" tIns="0" rIns="0" bIns="0" rtlCol="0" anchor="ctr"/>
          <a:lstStyle/>
          <a:p>
            <a:pPr indent="0" marL="0">
              <a:buNone/>
            </a:pPr>
            <a:r>
              <a:rPr lang="en-US" sz="1600" b="1" dirty="0">
                <a:solidFill>
                  <a:srgbClr val="FFFFFF"/>
                </a:solidFill>
              </a:rPr>
              <a:t>Sequence Wave 1 now. Obtain vendor pricing for a Day 60 decision. Reallocate ERP capacity only after written confirmation of acceptable impact.</a:t>
            </a:r>
            <a:endParaRPr lang="en-US" sz="1600" dirty="0"/>
          </a:p>
        </p:txBody>
      </p:sp>
      <p:sp>
        <p:nvSpPr>
          <p:cNvPr id="25" name="Slide Number Placeholder 0"/>
          <p:cNvSpPr>
            <a:spLocks noGrp="1"/>
          </p:cNvSpPr>
          <p:nvPr>
            <p:ph type="sldNum" sz="quarter" idx="4294967295"/>
          </p:nvPr>
        </p:nvSpPr>
        <p:spPr>
          <a:xfrm>
            <a:off x="1124712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11064240" cy="320040"/>
          </a:xfrm>
          <a:prstGeom prst="rect">
            <a:avLst/>
          </a:prstGeom>
          <a:noFill/>
          <a:ln/>
        </p:spPr>
        <p:txBody>
          <a:bodyPr wrap="square" lIns="0" tIns="0" rIns="0" bIns="0" rtlCol="0"/>
          <a:lstStyle/>
          <a:p>
            <a:pPr indent="0" marL="0">
              <a:buNone/>
            </a:pPr>
            <a:r>
              <a:rPr lang="en-US" sz="1200" b="1" dirty="0">
                <a:solidFill>
                  <a:schemeClr val="accent2"/>
                </a:solidFill>
              </a:rPr>
              <a:t>5  |  DECISION TO MEASURABLE OUTCOMES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How will leadership know whether execution is working?</a:t>
            </a:r>
            <a:endParaRPr lang="en-US" sz="3200" dirty="0"/>
          </a:p>
        </p:txBody>
      </p:sp>
      <p:sp>
        <p:nvSpPr>
          <p:cNvPr id="4" name="timeline"/>
          <p:cNvSpPr/>
          <p:nvPr/>
        </p:nvSpPr>
        <p:spPr>
          <a:xfrm>
            <a:off x="822960" y="1691640"/>
            <a:ext cx="10515600" cy="0"/>
          </a:xfrm>
          <a:prstGeom prst="line">
            <a:avLst/>
          </a:prstGeom>
          <a:noFill/>
          <a:ln w="25400">
            <a:solidFill>
              <a:srgbClr val="C9D3DF"/>
            </a:solidFill>
            <a:prstDash val="solid"/>
          </a:ln>
        </p:spPr>
      </p:sp>
      <p:sp>
        <p:nvSpPr>
          <p:cNvPr id="5" name="gate marker 0"/>
          <p:cNvSpPr/>
          <p:nvPr/>
        </p:nvSpPr>
        <p:spPr>
          <a:xfrm>
            <a:off x="1261872" y="1572768"/>
            <a:ext cx="237744" cy="237744"/>
          </a:xfrm>
          <a:prstGeom prst="ellipse">
            <a:avLst/>
          </a:prstGeom>
          <a:solidFill>
            <a:srgbClr val="FFFFFF"/>
          </a:solidFill>
          <a:ln w="19050">
            <a:solidFill>
              <a:srgbClr val="1F3A5F"/>
            </a:solidFill>
            <a:prstDash val="solid"/>
          </a:ln>
        </p:spPr>
      </p:sp>
      <p:sp>
        <p:nvSpPr>
          <p:cNvPr id="6" name="Text 4"/>
          <p:cNvSpPr txBox="1"/>
          <p:nvPr/>
        </p:nvSpPr>
        <p:spPr>
          <a:xfrm>
            <a:off x="548640" y="1874520"/>
            <a:ext cx="1691640" cy="868680"/>
          </a:xfrm>
          <a:prstGeom prst="rect">
            <a:avLst/>
          </a:prstGeom>
          <a:noFill/>
          <a:ln/>
        </p:spPr>
        <p:txBody>
          <a:bodyPr wrap="square" lIns="0" tIns="0" rIns="0" bIns="0" rtlCol="0" anchor="t"/>
          <a:lstStyle/>
          <a:p>
            <a:pPr algn="ctr" indent="0" marL="0">
              <a:buNone/>
            </a:pPr>
            <a:r>
              <a:rPr lang="en-US" sz="1300" b="1" dirty="0">
                <a:solidFill>
                  <a:srgbClr val="1F3A5F"/>
                </a:solidFill>
              </a:rPr>
              <a:t>Day 0</a:t>
            </a:r>
            <a:endParaRPr lang="en-US" sz="1300" dirty="0"/>
          </a:p>
          <a:p>
            <a:pPr algn="ctr" indent="0" marL="0">
              <a:buNone/>
            </a:pPr>
            <a:r>
              <a:rPr lang="en-US" sz="1300" dirty="0">
                <a:solidFill>
                  <a:srgbClr val="1B2430"/>
                </a:solidFill>
              </a:rPr>
              <a:t>G0 Authorize</a:t>
            </a:r>
            <a:endParaRPr lang="en-US" sz="1300" dirty="0"/>
          </a:p>
          <a:p>
            <a:pPr algn="ctr" indent="0" marL="0">
              <a:buNone/>
            </a:pPr>
            <a:r>
              <a:rPr lang="en-US" sz="1100" dirty="0">
                <a:solidFill>
                  <a:srgbClr val="5A6270"/>
                </a:solidFill>
              </a:rPr>
              <a:t>ELT</a:t>
            </a:r>
            <a:endParaRPr lang="en-US" sz="1300" dirty="0"/>
          </a:p>
        </p:txBody>
      </p:sp>
      <p:sp>
        <p:nvSpPr>
          <p:cNvPr id="7" name="gate marker 1"/>
          <p:cNvSpPr/>
          <p:nvPr/>
        </p:nvSpPr>
        <p:spPr>
          <a:xfrm>
            <a:off x="3108960" y="1572768"/>
            <a:ext cx="237744" cy="237744"/>
          </a:xfrm>
          <a:prstGeom prst="ellipse">
            <a:avLst/>
          </a:prstGeom>
          <a:solidFill>
            <a:srgbClr val="C2660A"/>
          </a:solidFill>
          <a:ln w="19050">
            <a:solidFill>
              <a:srgbClr val="C2660A"/>
            </a:solidFill>
            <a:prstDash val="solid"/>
          </a:ln>
        </p:spPr>
      </p:sp>
      <p:sp>
        <p:nvSpPr>
          <p:cNvPr id="8" name="Text 6"/>
          <p:cNvSpPr txBox="1"/>
          <p:nvPr/>
        </p:nvSpPr>
        <p:spPr>
          <a:xfrm>
            <a:off x="2395728" y="1874520"/>
            <a:ext cx="1691640" cy="868680"/>
          </a:xfrm>
          <a:prstGeom prst="rect">
            <a:avLst/>
          </a:prstGeom>
          <a:noFill/>
          <a:ln/>
        </p:spPr>
        <p:txBody>
          <a:bodyPr wrap="square" lIns="0" tIns="0" rIns="0" bIns="0" rtlCol="0" anchor="t"/>
          <a:lstStyle/>
          <a:p>
            <a:pPr algn="ctr" indent="0" marL="0">
              <a:buNone/>
            </a:pPr>
            <a:r>
              <a:rPr lang="en-US" sz="1300" b="1" dirty="0">
                <a:solidFill>
                  <a:srgbClr val="1F3A5F"/>
                </a:solidFill>
              </a:rPr>
              <a:t>Days 15 / 20</a:t>
            </a:r>
            <a:endParaRPr lang="en-US" sz="1300" dirty="0"/>
          </a:p>
          <a:p>
            <a:pPr algn="ctr" indent="0" marL="0">
              <a:buNone/>
            </a:pPr>
            <a:r>
              <a:rPr lang="en-US" sz="1300" dirty="0">
                <a:solidFill>
                  <a:srgbClr val="1B2430"/>
                </a:solidFill>
              </a:rPr>
              <a:t>Capacity allocated, then validated</a:t>
            </a:r>
            <a:endParaRPr lang="en-US" sz="1300" dirty="0"/>
          </a:p>
          <a:p>
            <a:pPr algn="ctr" indent="0" marL="0">
              <a:buNone/>
            </a:pPr>
            <a:r>
              <a:rPr lang="en-US" sz="1100" dirty="0">
                <a:solidFill>
                  <a:srgbClr val="5A6270"/>
                </a:solidFill>
              </a:rPr>
              <a:t>CIO/CTO + TPM</a:t>
            </a:r>
            <a:endParaRPr lang="en-US" sz="1300" dirty="0"/>
          </a:p>
        </p:txBody>
      </p:sp>
      <p:sp>
        <p:nvSpPr>
          <p:cNvPr id="9" name="gate marker 2"/>
          <p:cNvSpPr/>
          <p:nvPr/>
        </p:nvSpPr>
        <p:spPr>
          <a:xfrm>
            <a:off x="4956048" y="1572768"/>
            <a:ext cx="237744" cy="237744"/>
          </a:xfrm>
          <a:prstGeom prst="ellipse">
            <a:avLst/>
          </a:prstGeom>
          <a:solidFill>
            <a:srgbClr val="FFFFFF"/>
          </a:solidFill>
          <a:ln w="19050">
            <a:solidFill>
              <a:srgbClr val="1F3A5F"/>
            </a:solidFill>
            <a:prstDash val="solid"/>
          </a:ln>
        </p:spPr>
      </p:sp>
      <p:sp>
        <p:nvSpPr>
          <p:cNvPr id="10" name="Text 8"/>
          <p:cNvSpPr txBox="1"/>
          <p:nvPr/>
        </p:nvSpPr>
        <p:spPr>
          <a:xfrm>
            <a:off x="4242816" y="1874520"/>
            <a:ext cx="1691640" cy="868680"/>
          </a:xfrm>
          <a:prstGeom prst="rect">
            <a:avLst/>
          </a:prstGeom>
          <a:noFill/>
          <a:ln/>
        </p:spPr>
        <p:txBody>
          <a:bodyPr wrap="square" lIns="0" tIns="0" rIns="0" bIns="0" rtlCol="0" anchor="t"/>
          <a:lstStyle/>
          <a:p>
            <a:pPr algn="ctr" indent="0" marL="0">
              <a:buNone/>
            </a:pPr>
            <a:r>
              <a:rPr lang="en-US" sz="1300" b="1" dirty="0">
                <a:solidFill>
                  <a:srgbClr val="1F3A5F"/>
                </a:solidFill>
              </a:rPr>
              <a:t>Day 30</a:t>
            </a:r>
            <a:endParaRPr lang="en-US" sz="1300" dirty="0"/>
          </a:p>
          <a:p>
            <a:pPr algn="ctr" indent="0" marL="0">
              <a:buNone/>
            </a:pPr>
            <a:r>
              <a:rPr lang="en-US" sz="1300" dirty="0">
                <a:solidFill>
                  <a:srgbClr val="1B2430"/>
                </a:solidFill>
              </a:rPr>
              <a:t>G1 Governance baseline</a:t>
            </a:r>
            <a:endParaRPr lang="en-US" sz="1300" dirty="0"/>
          </a:p>
          <a:p>
            <a:pPr algn="ctr" indent="0" marL="0">
              <a:buNone/>
            </a:pPr>
            <a:r>
              <a:rPr lang="en-US" sz="1100" dirty="0">
                <a:solidFill>
                  <a:srgbClr val="5A6270"/>
                </a:solidFill>
              </a:rPr>
              <a:t>Steering</a:t>
            </a:r>
            <a:endParaRPr lang="en-US" sz="1300" dirty="0"/>
          </a:p>
        </p:txBody>
      </p:sp>
      <p:sp>
        <p:nvSpPr>
          <p:cNvPr id="11" name="gate marker 3"/>
          <p:cNvSpPr/>
          <p:nvPr/>
        </p:nvSpPr>
        <p:spPr>
          <a:xfrm>
            <a:off x="6803136" y="1572768"/>
            <a:ext cx="237744" cy="237744"/>
          </a:xfrm>
          <a:prstGeom prst="ellipse">
            <a:avLst/>
          </a:prstGeom>
          <a:solidFill>
            <a:srgbClr val="FFFFFF"/>
          </a:solidFill>
          <a:ln w="19050">
            <a:solidFill>
              <a:srgbClr val="1F3A5F"/>
            </a:solidFill>
            <a:prstDash val="solid"/>
          </a:ln>
        </p:spPr>
      </p:sp>
      <p:sp>
        <p:nvSpPr>
          <p:cNvPr id="12" name="Text 10"/>
          <p:cNvSpPr txBox="1"/>
          <p:nvPr/>
        </p:nvSpPr>
        <p:spPr>
          <a:xfrm>
            <a:off x="6089904" y="1874520"/>
            <a:ext cx="1691640" cy="868680"/>
          </a:xfrm>
          <a:prstGeom prst="rect">
            <a:avLst/>
          </a:prstGeom>
          <a:noFill/>
          <a:ln/>
        </p:spPr>
        <p:txBody>
          <a:bodyPr wrap="square" lIns="0" tIns="0" rIns="0" bIns="0" rtlCol="0" anchor="t"/>
          <a:lstStyle/>
          <a:p>
            <a:pPr algn="ctr" indent="0" marL="0">
              <a:buNone/>
            </a:pPr>
            <a:r>
              <a:rPr lang="en-US" sz="1300" b="1" dirty="0">
                <a:solidFill>
                  <a:srgbClr val="1F3A5F"/>
                </a:solidFill>
              </a:rPr>
              <a:t>Day 60</a:t>
            </a:r>
            <a:endParaRPr lang="en-US" sz="1300" dirty="0"/>
          </a:p>
          <a:p>
            <a:pPr algn="ctr" indent="0" marL="0">
              <a:buNone/>
            </a:pPr>
            <a:r>
              <a:rPr lang="en-US" sz="1300" dirty="0">
                <a:solidFill>
                  <a:srgbClr val="1B2430"/>
                </a:solidFill>
              </a:rPr>
              <a:t>G2 Design and readiness</a:t>
            </a:r>
            <a:endParaRPr lang="en-US" sz="1300" dirty="0"/>
          </a:p>
          <a:p>
            <a:pPr algn="ctr" indent="0" marL="0">
              <a:buNone/>
            </a:pPr>
            <a:r>
              <a:rPr lang="en-US" sz="1100" dirty="0">
                <a:solidFill>
                  <a:srgbClr val="5A6270"/>
                </a:solidFill>
              </a:rPr>
              <a:t>Steering + CISO</a:t>
            </a:r>
            <a:endParaRPr lang="en-US" sz="1300" dirty="0"/>
          </a:p>
        </p:txBody>
      </p:sp>
      <p:sp>
        <p:nvSpPr>
          <p:cNvPr id="13" name="gate marker 4"/>
          <p:cNvSpPr/>
          <p:nvPr/>
        </p:nvSpPr>
        <p:spPr>
          <a:xfrm>
            <a:off x="8650224" y="1572768"/>
            <a:ext cx="237744" cy="237744"/>
          </a:xfrm>
          <a:prstGeom prst="ellipse">
            <a:avLst/>
          </a:prstGeom>
          <a:solidFill>
            <a:srgbClr val="FFFFFF"/>
          </a:solidFill>
          <a:ln w="19050">
            <a:solidFill>
              <a:srgbClr val="1F3A5F"/>
            </a:solidFill>
            <a:prstDash val="solid"/>
          </a:ln>
        </p:spPr>
      </p:sp>
      <p:sp>
        <p:nvSpPr>
          <p:cNvPr id="14" name="Text 12"/>
          <p:cNvSpPr txBox="1"/>
          <p:nvPr/>
        </p:nvSpPr>
        <p:spPr>
          <a:xfrm>
            <a:off x="7936992" y="1874520"/>
            <a:ext cx="1691640" cy="868680"/>
          </a:xfrm>
          <a:prstGeom prst="rect">
            <a:avLst/>
          </a:prstGeom>
          <a:noFill/>
          <a:ln/>
        </p:spPr>
        <p:txBody>
          <a:bodyPr wrap="square" lIns="0" tIns="0" rIns="0" bIns="0" rtlCol="0" anchor="t"/>
          <a:lstStyle/>
          <a:p>
            <a:pPr algn="ctr" indent="0" marL="0">
              <a:buNone/>
            </a:pPr>
            <a:r>
              <a:rPr lang="en-US" sz="1300" b="1" dirty="0">
                <a:solidFill>
                  <a:srgbClr val="1F3A5F"/>
                </a:solidFill>
              </a:rPr>
              <a:t>~Day 65</a:t>
            </a:r>
            <a:endParaRPr lang="en-US" sz="1300" dirty="0"/>
          </a:p>
          <a:p>
            <a:pPr algn="ctr" indent="0" marL="0">
              <a:buNone/>
            </a:pPr>
            <a:r>
              <a:rPr lang="en-US" sz="1300" dirty="0">
                <a:solidFill>
                  <a:srgbClr val="1B2430"/>
                </a:solidFill>
              </a:rPr>
              <a:t>G3 Pilot go/no-go</a:t>
            </a:r>
            <a:endParaRPr lang="en-US" sz="1300" dirty="0"/>
          </a:p>
          <a:p>
            <a:pPr algn="ctr" indent="0" marL="0">
              <a:buNone/>
            </a:pPr>
            <a:r>
              <a:rPr lang="en-US" sz="1100" dirty="0">
                <a:solidFill>
                  <a:srgbClr val="5A6270"/>
                </a:solidFill>
              </a:rPr>
              <a:t>Risk Board + product owner</a:t>
            </a:r>
            <a:endParaRPr lang="en-US" sz="1300" dirty="0"/>
          </a:p>
        </p:txBody>
      </p:sp>
      <p:sp>
        <p:nvSpPr>
          <p:cNvPr id="15" name="gate marker 5"/>
          <p:cNvSpPr/>
          <p:nvPr/>
        </p:nvSpPr>
        <p:spPr>
          <a:xfrm>
            <a:off x="10497312" y="1572768"/>
            <a:ext cx="237744" cy="237744"/>
          </a:xfrm>
          <a:prstGeom prst="ellipse">
            <a:avLst/>
          </a:prstGeom>
          <a:solidFill>
            <a:srgbClr val="1F3A5F"/>
          </a:solidFill>
          <a:ln w="19050">
            <a:solidFill>
              <a:srgbClr val="1F3A5F"/>
            </a:solidFill>
            <a:prstDash val="solid"/>
          </a:ln>
        </p:spPr>
      </p:sp>
      <p:sp>
        <p:nvSpPr>
          <p:cNvPr id="16" name="Text 14"/>
          <p:cNvSpPr txBox="1"/>
          <p:nvPr/>
        </p:nvSpPr>
        <p:spPr>
          <a:xfrm>
            <a:off x="9784080" y="1874520"/>
            <a:ext cx="1691640" cy="868680"/>
          </a:xfrm>
          <a:prstGeom prst="rect">
            <a:avLst/>
          </a:prstGeom>
          <a:noFill/>
          <a:ln/>
        </p:spPr>
        <p:txBody>
          <a:bodyPr wrap="square" lIns="0" tIns="0" rIns="0" bIns="0" rtlCol="0" anchor="t"/>
          <a:lstStyle/>
          <a:p>
            <a:pPr algn="ctr" indent="0" marL="0">
              <a:buNone/>
            </a:pPr>
            <a:r>
              <a:rPr lang="en-US" sz="1300" b="1" dirty="0">
                <a:solidFill>
                  <a:srgbClr val="1F3A5F"/>
                </a:solidFill>
              </a:rPr>
              <a:t>Day 90</a:t>
            </a:r>
            <a:endParaRPr lang="en-US" sz="1300" dirty="0"/>
          </a:p>
          <a:p>
            <a:pPr algn="ctr" indent="0" marL="0">
              <a:buNone/>
            </a:pPr>
            <a:r>
              <a:rPr lang="en-US" sz="1300" dirty="0">
                <a:solidFill>
                  <a:srgbClr val="1B2430"/>
                </a:solidFill>
              </a:rPr>
              <a:t>G4 Scale, revise, or stop</a:t>
            </a:r>
            <a:endParaRPr lang="en-US" sz="1300" dirty="0"/>
          </a:p>
          <a:p>
            <a:pPr algn="ctr" indent="0" marL="0">
              <a:buNone/>
            </a:pPr>
            <a:r>
              <a:rPr lang="en-US" sz="1100" dirty="0">
                <a:solidFill>
                  <a:srgbClr val="5A6270"/>
                </a:solidFill>
              </a:rPr>
              <a:t>CFO + ELT</a:t>
            </a:r>
            <a:endParaRPr lang="en-US" sz="1300" dirty="0"/>
          </a:p>
        </p:txBody>
      </p:sp>
      <p:sp>
        <p:nvSpPr>
          <p:cNvPr id="17" name="Delivery readiness (G3) panel"/>
          <p:cNvSpPr/>
          <p:nvPr/>
        </p:nvSpPr>
        <p:spPr>
          <a:xfrm>
            <a:off x="548640" y="2880360"/>
            <a:ext cx="3566160" cy="1874520"/>
          </a:xfrm>
          <a:prstGeom prst="rect">
            <a:avLst/>
          </a:prstGeom>
          <a:solidFill>
            <a:srgbClr val="EEF2F7"/>
          </a:solidFill>
          <a:ln w="9525">
            <a:solidFill>
              <a:srgbClr val="EEF2F7"/>
            </a:solidFill>
            <a:prstDash val="solid"/>
          </a:ln>
        </p:spPr>
      </p:sp>
      <p:sp>
        <p:nvSpPr>
          <p:cNvPr id="18" name="Text 16"/>
          <p:cNvSpPr txBox="1"/>
          <p:nvPr/>
        </p:nvSpPr>
        <p:spPr>
          <a:xfrm>
            <a:off x="731520" y="2971800"/>
            <a:ext cx="3200400" cy="320040"/>
          </a:xfrm>
          <a:prstGeom prst="rect">
            <a:avLst/>
          </a:prstGeom>
          <a:noFill/>
          <a:ln/>
        </p:spPr>
        <p:txBody>
          <a:bodyPr wrap="square" lIns="0" tIns="0" rIns="0" bIns="0" rtlCol="0" anchor="ctr"/>
          <a:lstStyle/>
          <a:p>
            <a:pPr indent="0" marL="0">
              <a:buNone/>
            </a:pPr>
            <a:r>
              <a:rPr lang="en-US" sz="1400" b="1" dirty="0">
                <a:solidFill>
                  <a:srgbClr val="1F3A5F"/>
                </a:solidFill>
              </a:rPr>
              <a:t>Delivery readiness (G3)</a:t>
            </a:r>
            <a:endParaRPr lang="en-US" sz="1400" dirty="0"/>
          </a:p>
        </p:txBody>
      </p:sp>
      <p:sp>
        <p:nvSpPr>
          <p:cNvPr id="19" name="Text 17"/>
          <p:cNvSpPr txBox="1"/>
          <p:nvPr/>
        </p:nvSpPr>
        <p:spPr>
          <a:xfrm>
            <a:off x="731520" y="3337560"/>
            <a:ext cx="3246120" cy="13716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B2430"/>
                </a:solidFill>
              </a:rPr>
              <a:t>Acceptance criteria approved</a:t>
            </a:r>
            <a:endParaRPr lang="en-US" sz="1300" dirty="0"/>
          </a:p>
          <a:p>
            <a:pPr marL="342900" indent="-342900">
              <a:spcAft>
                <a:spcPts val="300"/>
              </a:spcAft>
              <a:buSzPct val="100000"/>
              <a:buChar char="•"/>
            </a:pPr>
            <a:r>
              <a:rPr lang="en-US" sz="1300" dirty="0">
                <a:solidFill>
                  <a:srgbClr val="1B2430"/>
                </a:solidFill>
              </a:rPr>
              <a:t>Controls MC-01 to MC-06 evidenced</a:t>
            </a:r>
            <a:endParaRPr lang="en-US" sz="1300" dirty="0"/>
          </a:p>
          <a:p>
            <a:pPr marL="342900" indent="-342900">
              <a:spcAft>
                <a:spcPts val="300"/>
              </a:spcAft>
              <a:buSzPct val="100000"/>
              <a:buChar char="•"/>
            </a:pPr>
            <a:r>
              <a:rPr lang="en-US" sz="1300" dirty="0">
                <a:solidFill>
                  <a:srgbClr val="1B2430"/>
                </a:solidFill>
              </a:rPr>
              <a:t>Support runbook and rollback</a:t>
            </a:r>
            <a:endParaRPr lang="en-US" sz="1300" dirty="0"/>
          </a:p>
          <a:p>
            <a:pPr marL="342900" indent="-342900">
              <a:spcAft>
                <a:spcPts val="300"/>
              </a:spcAft>
              <a:buSzPct val="100000"/>
              <a:buChar char="•"/>
            </a:pPr>
            <a:r>
              <a:rPr lang="en-US" sz="1300" dirty="0">
                <a:solidFill>
                  <a:srgbClr val="1B2430"/>
                </a:solidFill>
              </a:rPr>
              <a:t>Pilot users trained</a:t>
            </a:r>
            <a:endParaRPr lang="en-US" sz="1300" dirty="0"/>
          </a:p>
        </p:txBody>
      </p:sp>
      <p:sp>
        <p:nvSpPr>
          <p:cNvPr id="20" name="Business value panel"/>
          <p:cNvSpPr/>
          <p:nvPr/>
        </p:nvSpPr>
        <p:spPr>
          <a:xfrm>
            <a:off x="4297680" y="2880360"/>
            <a:ext cx="3566160" cy="1874520"/>
          </a:xfrm>
          <a:prstGeom prst="rect">
            <a:avLst/>
          </a:prstGeom>
          <a:solidFill>
            <a:srgbClr val="EEF2F7"/>
          </a:solidFill>
          <a:ln w="9525">
            <a:solidFill>
              <a:srgbClr val="EEF2F7"/>
            </a:solidFill>
            <a:prstDash val="solid"/>
          </a:ln>
        </p:spPr>
      </p:sp>
      <p:sp>
        <p:nvSpPr>
          <p:cNvPr id="21" name="Text 19"/>
          <p:cNvSpPr txBox="1"/>
          <p:nvPr/>
        </p:nvSpPr>
        <p:spPr>
          <a:xfrm>
            <a:off x="4480560" y="2971800"/>
            <a:ext cx="3200400" cy="320040"/>
          </a:xfrm>
          <a:prstGeom prst="rect">
            <a:avLst/>
          </a:prstGeom>
          <a:noFill/>
          <a:ln/>
        </p:spPr>
        <p:txBody>
          <a:bodyPr wrap="square" lIns="0" tIns="0" rIns="0" bIns="0" rtlCol="0" anchor="ctr"/>
          <a:lstStyle/>
          <a:p>
            <a:pPr indent="0" marL="0">
              <a:buNone/>
            </a:pPr>
            <a:r>
              <a:rPr lang="en-US" sz="1400" b="1" dirty="0">
                <a:solidFill>
                  <a:srgbClr val="1F3A5F"/>
                </a:solidFill>
              </a:rPr>
              <a:t>Business value</a:t>
            </a:r>
            <a:endParaRPr lang="en-US" sz="1400" dirty="0"/>
          </a:p>
        </p:txBody>
      </p:sp>
      <p:sp>
        <p:nvSpPr>
          <p:cNvPr id="22" name="Text 20"/>
          <p:cNvSpPr txBox="1"/>
          <p:nvPr/>
        </p:nvSpPr>
        <p:spPr>
          <a:xfrm>
            <a:off x="4480560" y="3337560"/>
            <a:ext cx="3246120" cy="13716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B2430"/>
                </a:solidFill>
              </a:rPr>
              <a:t>On-contract spend vs 71% baseline</a:t>
            </a:r>
            <a:endParaRPr lang="en-US" sz="1300" dirty="0"/>
          </a:p>
          <a:p>
            <a:pPr marL="342900" indent="-342900">
              <a:spcAft>
                <a:spcPts val="300"/>
              </a:spcAft>
              <a:buSzPct val="100000"/>
              <a:buChar char="•"/>
            </a:pPr>
            <a:r>
              <a:rPr lang="en-US" sz="1300" dirty="0">
                <a:solidFill>
                  <a:srgbClr val="1B2430"/>
                </a:solidFill>
              </a:rPr>
              <a:t>Output acceptance rate</a:t>
            </a:r>
            <a:endParaRPr lang="en-US" sz="1300" dirty="0"/>
          </a:p>
          <a:p>
            <a:pPr marL="342900" indent="-342900">
              <a:spcAft>
                <a:spcPts val="300"/>
              </a:spcAft>
              <a:buSzPct val="100000"/>
              <a:buChar char="•"/>
            </a:pPr>
            <a:r>
              <a:rPr lang="en-US" sz="1300" dirty="0">
                <a:solidFill>
                  <a:srgbClr val="1B2430"/>
                </a:solidFill>
              </a:rPr>
              <a:t>Net denial recovery collected</a:t>
            </a:r>
            <a:endParaRPr lang="en-US" sz="1300" dirty="0"/>
          </a:p>
          <a:p>
            <a:pPr marL="342900" indent="-342900">
              <a:spcAft>
                <a:spcPts val="300"/>
              </a:spcAft>
              <a:buSzPct val="100000"/>
              <a:buChar char="•"/>
            </a:pPr>
            <a:r>
              <a:rPr lang="en-US" sz="1300" dirty="0">
                <a:solidFill>
                  <a:srgbClr val="1B2430"/>
                </a:solidFill>
              </a:rPr>
              <a:t>Finance-validated, never summed</a:t>
            </a:r>
            <a:endParaRPr lang="en-US" sz="1300" dirty="0"/>
          </a:p>
        </p:txBody>
      </p:sp>
      <p:sp>
        <p:nvSpPr>
          <p:cNvPr id="23" name="Escalation thresholds panel"/>
          <p:cNvSpPr/>
          <p:nvPr/>
        </p:nvSpPr>
        <p:spPr>
          <a:xfrm>
            <a:off x="8046720" y="2880360"/>
            <a:ext cx="3566160" cy="1874520"/>
          </a:xfrm>
          <a:prstGeom prst="rect">
            <a:avLst/>
          </a:prstGeom>
          <a:solidFill>
            <a:srgbClr val="EEF2F7"/>
          </a:solidFill>
          <a:ln w="9525">
            <a:solidFill>
              <a:srgbClr val="EEF2F7"/>
            </a:solidFill>
            <a:prstDash val="solid"/>
          </a:ln>
        </p:spPr>
      </p:sp>
      <p:sp>
        <p:nvSpPr>
          <p:cNvPr id="24" name="Text 22"/>
          <p:cNvSpPr txBox="1"/>
          <p:nvPr/>
        </p:nvSpPr>
        <p:spPr>
          <a:xfrm>
            <a:off x="8229600" y="2971800"/>
            <a:ext cx="3200400" cy="320040"/>
          </a:xfrm>
          <a:prstGeom prst="rect">
            <a:avLst/>
          </a:prstGeom>
          <a:noFill/>
          <a:ln/>
        </p:spPr>
        <p:txBody>
          <a:bodyPr wrap="square" lIns="0" tIns="0" rIns="0" bIns="0" rtlCol="0" anchor="ctr"/>
          <a:lstStyle/>
          <a:p>
            <a:pPr indent="0" marL="0">
              <a:buNone/>
            </a:pPr>
            <a:r>
              <a:rPr lang="en-US" sz="1400" b="1" dirty="0">
                <a:solidFill>
                  <a:srgbClr val="1F3A5F"/>
                </a:solidFill>
              </a:rPr>
              <a:t>Escalation thresholds</a:t>
            </a:r>
            <a:endParaRPr lang="en-US" sz="1400" dirty="0"/>
          </a:p>
        </p:txBody>
      </p:sp>
      <p:sp>
        <p:nvSpPr>
          <p:cNvPr id="25" name="Text 23"/>
          <p:cNvSpPr txBox="1"/>
          <p:nvPr/>
        </p:nvSpPr>
        <p:spPr>
          <a:xfrm>
            <a:off x="8229600" y="3337560"/>
            <a:ext cx="3246120" cy="13716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B2430"/>
                </a:solidFill>
              </a:rPr>
              <a:t>Capacity unavailable in window: 1 day</a:t>
            </a:r>
            <a:endParaRPr lang="en-US" sz="1300" dirty="0"/>
          </a:p>
          <a:p>
            <a:pPr marL="342900" indent="-342900">
              <a:spcAft>
                <a:spcPts val="300"/>
              </a:spcAft>
              <a:buSzPct val="100000"/>
              <a:buChar char="•"/>
            </a:pPr>
            <a:r>
              <a:rPr lang="en-US" sz="1300" dirty="0">
                <a:solidFill>
                  <a:srgbClr val="1B2430"/>
                </a:solidFill>
              </a:rPr>
              <a:t>Gate at risk &gt; 2 weeks</a:t>
            </a:r>
            <a:endParaRPr lang="en-US" sz="1300" dirty="0"/>
          </a:p>
          <a:p>
            <a:pPr marL="342900" indent="-342900">
              <a:spcAft>
                <a:spcPts val="300"/>
              </a:spcAft>
              <a:buSzPct val="100000"/>
              <a:buChar char="•"/>
            </a:pPr>
            <a:r>
              <a:rPr lang="en-US" sz="1300" dirty="0">
                <a:solidFill>
                  <a:srgbClr val="1B2430"/>
                </a:solidFill>
              </a:rPr>
              <a:t>Variance &gt; 10% or $100K</a:t>
            </a:r>
            <a:endParaRPr lang="en-US" sz="1300" dirty="0"/>
          </a:p>
          <a:p>
            <a:pPr marL="342900" indent="-342900">
              <a:spcAft>
                <a:spcPts val="300"/>
              </a:spcAft>
              <a:buSzPct val="100000"/>
              <a:buChar char="•"/>
            </a:pPr>
            <a:r>
              <a:rPr lang="en-US" sz="1300" dirty="0">
                <a:solidFill>
                  <a:srgbClr val="1B2430"/>
                </a:solidFill>
              </a:rPr>
              <a:t>Patient-data incident: 24 hours</a:t>
            </a:r>
            <a:endParaRPr lang="en-US" sz="1300" dirty="0"/>
          </a:p>
        </p:txBody>
      </p:sp>
      <p:sp>
        <p:nvSpPr>
          <p:cNvPr id="26" name="Proceed condition"/>
          <p:cNvSpPr/>
          <p:nvPr/>
        </p:nvSpPr>
        <p:spPr>
          <a:xfrm>
            <a:off x="548640" y="4919472"/>
            <a:ext cx="2651760" cy="566928"/>
          </a:xfrm>
          <a:prstGeom prst="roundRect">
            <a:avLst>
              <a:gd name="adj" fmla="val 12903"/>
            </a:avLst>
          </a:prstGeom>
          <a:solidFill>
            <a:srgbClr val="FFFFFF"/>
          </a:solidFill>
          <a:ln w="19050">
            <a:solidFill>
              <a:srgbClr val="2E7D6E"/>
            </a:solidFill>
            <a:prstDash val="solid"/>
          </a:ln>
        </p:spPr>
      </p:sp>
      <p:sp>
        <p:nvSpPr>
          <p:cNvPr id="27" name="Text 25"/>
          <p:cNvSpPr txBox="1"/>
          <p:nvPr/>
        </p:nvSpPr>
        <p:spPr>
          <a:xfrm>
            <a:off x="658368" y="4937760"/>
            <a:ext cx="2468880" cy="530352"/>
          </a:xfrm>
          <a:prstGeom prst="rect">
            <a:avLst/>
          </a:prstGeom>
          <a:noFill/>
          <a:ln/>
        </p:spPr>
        <p:txBody>
          <a:bodyPr wrap="square" lIns="0" tIns="0" rIns="0" bIns="0" rtlCol="0" anchor="ctr"/>
          <a:lstStyle/>
          <a:p>
            <a:pPr indent="0" marL="0">
              <a:buNone/>
            </a:pPr>
            <a:r>
              <a:rPr lang="en-US" sz="1300" b="1" dirty="0">
                <a:solidFill>
                  <a:srgbClr val="2E7D6E"/>
                </a:solidFill>
              </a:rPr>
              <a:t>Proceed: </a:t>
            </a:r>
            <a:pPr indent="0" marL="0">
              <a:buNone/>
            </a:pPr>
            <a:r>
              <a:rPr lang="en-US" sz="1300" dirty="0">
                <a:solidFill>
                  <a:srgbClr val="1B2430"/>
                </a:solidFill>
              </a:rPr>
              <a:t>criteria met, controls conform</a:t>
            </a:r>
            <a:endParaRPr lang="en-US" sz="1300" dirty="0"/>
          </a:p>
        </p:txBody>
      </p:sp>
      <p:sp>
        <p:nvSpPr>
          <p:cNvPr id="28" name="Pivot condition"/>
          <p:cNvSpPr/>
          <p:nvPr/>
        </p:nvSpPr>
        <p:spPr>
          <a:xfrm>
            <a:off x="3346704" y="4919472"/>
            <a:ext cx="2651760" cy="566928"/>
          </a:xfrm>
          <a:prstGeom prst="roundRect">
            <a:avLst>
              <a:gd name="adj" fmla="val 12903"/>
            </a:avLst>
          </a:prstGeom>
          <a:solidFill>
            <a:srgbClr val="FFFFFF"/>
          </a:solidFill>
          <a:ln w="19050">
            <a:solidFill>
              <a:srgbClr val="1F3A5F"/>
            </a:solidFill>
            <a:prstDash val="solid"/>
          </a:ln>
        </p:spPr>
      </p:sp>
      <p:sp>
        <p:nvSpPr>
          <p:cNvPr id="29" name="Text 27"/>
          <p:cNvSpPr txBox="1"/>
          <p:nvPr/>
        </p:nvSpPr>
        <p:spPr>
          <a:xfrm>
            <a:off x="3456432" y="4937760"/>
            <a:ext cx="2468880" cy="530352"/>
          </a:xfrm>
          <a:prstGeom prst="rect">
            <a:avLst/>
          </a:prstGeom>
          <a:noFill/>
          <a:ln/>
        </p:spPr>
        <p:txBody>
          <a:bodyPr wrap="square" lIns="0" tIns="0" rIns="0" bIns="0" rtlCol="0" anchor="ctr"/>
          <a:lstStyle/>
          <a:p>
            <a:pPr indent="0" marL="0">
              <a:buNone/>
            </a:pPr>
            <a:r>
              <a:rPr lang="en-US" sz="1300" b="1" dirty="0">
                <a:solidFill>
                  <a:srgbClr val="1F3A5F"/>
                </a:solidFill>
              </a:rPr>
              <a:t>Pivot: </a:t>
            </a:r>
            <a:pPr indent="0" marL="0">
              <a:buNone/>
            </a:pPr>
            <a:r>
              <a:rPr lang="en-US" sz="1300" dirty="0">
                <a:solidFill>
                  <a:srgbClr val="1B2430"/>
                </a:solidFill>
              </a:rPr>
              <a:t>evidence favors Option A</a:t>
            </a:r>
            <a:endParaRPr lang="en-US" sz="1300" dirty="0"/>
          </a:p>
        </p:txBody>
      </p:sp>
      <p:sp>
        <p:nvSpPr>
          <p:cNvPr id="30" name="Slow condition"/>
          <p:cNvSpPr/>
          <p:nvPr/>
        </p:nvSpPr>
        <p:spPr>
          <a:xfrm>
            <a:off x="6144768" y="4919472"/>
            <a:ext cx="2651760" cy="566928"/>
          </a:xfrm>
          <a:prstGeom prst="roundRect">
            <a:avLst>
              <a:gd name="adj" fmla="val 12903"/>
            </a:avLst>
          </a:prstGeom>
          <a:solidFill>
            <a:srgbClr val="FFFFFF"/>
          </a:solidFill>
          <a:ln w="19050">
            <a:solidFill>
              <a:srgbClr val="C2660A"/>
            </a:solidFill>
            <a:prstDash val="solid"/>
          </a:ln>
        </p:spPr>
      </p:sp>
      <p:sp>
        <p:nvSpPr>
          <p:cNvPr id="31" name="Text 29"/>
          <p:cNvSpPr txBox="1"/>
          <p:nvPr/>
        </p:nvSpPr>
        <p:spPr>
          <a:xfrm>
            <a:off x="6254496" y="4937760"/>
            <a:ext cx="2468880" cy="530352"/>
          </a:xfrm>
          <a:prstGeom prst="rect">
            <a:avLst/>
          </a:prstGeom>
          <a:noFill/>
          <a:ln/>
        </p:spPr>
        <p:txBody>
          <a:bodyPr wrap="square" lIns="0" tIns="0" rIns="0" bIns="0" rtlCol="0" anchor="ctr"/>
          <a:lstStyle/>
          <a:p>
            <a:pPr indent="0" marL="0">
              <a:buNone/>
            </a:pPr>
            <a:r>
              <a:rPr lang="en-US" sz="1300" b="1" dirty="0">
                <a:solidFill>
                  <a:srgbClr val="C2660A"/>
                </a:solidFill>
              </a:rPr>
              <a:t>Slow: </a:t>
            </a:r>
            <a:pPr indent="0" marL="0">
              <a:buNone/>
            </a:pPr>
            <a:r>
              <a:rPr lang="en-US" sz="1300" dirty="0">
                <a:solidFill>
                  <a:srgbClr val="1B2430"/>
                </a:solidFill>
              </a:rPr>
              <a:t>capacity short: sequence scope</a:t>
            </a:r>
            <a:endParaRPr lang="en-US" sz="1300" dirty="0"/>
          </a:p>
        </p:txBody>
      </p:sp>
      <p:sp>
        <p:nvSpPr>
          <p:cNvPr id="32" name="Stop condition"/>
          <p:cNvSpPr/>
          <p:nvPr/>
        </p:nvSpPr>
        <p:spPr>
          <a:xfrm>
            <a:off x="8942832" y="4919472"/>
            <a:ext cx="2651760" cy="566928"/>
          </a:xfrm>
          <a:prstGeom prst="roundRect">
            <a:avLst>
              <a:gd name="adj" fmla="val 12903"/>
            </a:avLst>
          </a:prstGeom>
          <a:solidFill>
            <a:srgbClr val="FFFFFF"/>
          </a:solidFill>
          <a:ln w="19050">
            <a:solidFill>
              <a:srgbClr val="B23B3B"/>
            </a:solidFill>
            <a:prstDash val="solid"/>
          </a:ln>
        </p:spPr>
      </p:sp>
      <p:sp>
        <p:nvSpPr>
          <p:cNvPr id="33" name="Text 31"/>
          <p:cNvSpPr txBox="1"/>
          <p:nvPr/>
        </p:nvSpPr>
        <p:spPr>
          <a:xfrm>
            <a:off x="9052560" y="4937760"/>
            <a:ext cx="2468880" cy="530352"/>
          </a:xfrm>
          <a:prstGeom prst="rect">
            <a:avLst/>
          </a:prstGeom>
          <a:noFill/>
          <a:ln/>
        </p:spPr>
        <p:txBody>
          <a:bodyPr wrap="square" lIns="0" tIns="0" rIns="0" bIns="0" rtlCol="0" anchor="ctr"/>
          <a:lstStyle/>
          <a:p>
            <a:pPr indent="0" marL="0">
              <a:buNone/>
            </a:pPr>
            <a:r>
              <a:rPr lang="en-US" sz="1300" b="1" dirty="0">
                <a:solidFill>
                  <a:srgbClr val="B23B3B"/>
                </a:solidFill>
              </a:rPr>
              <a:t>Stop: </a:t>
            </a:r>
            <a:pPr indent="0" marL="0">
              <a:buNone/>
            </a:pPr>
            <a:r>
              <a:rPr lang="en-US" sz="1300" dirty="0">
                <a:solidFill>
                  <a:srgbClr val="1B2430"/>
                </a:solidFill>
              </a:rPr>
              <a:t>criteria unmet after one revision</a:t>
            </a:r>
            <a:endParaRPr lang="en-US" sz="1300" dirty="0"/>
          </a:p>
        </p:txBody>
      </p:sp>
      <p:sp>
        <p:nvSpPr>
          <p:cNvPr id="34" name="closing message"/>
          <p:cNvSpPr/>
          <p:nvPr/>
        </p:nvSpPr>
        <p:spPr>
          <a:xfrm>
            <a:off x="548640" y="5650992"/>
            <a:ext cx="11064240" cy="566928"/>
          </a:xfrm>
          <a:prstGeom prst="rect">
            <a:avLst/>
          </a:prstGeom>
          <a:solidFill>
            <a:srgbClr val="1F3A5F"/>
          </a:solidFill>
          <a:ln w="9525">
            <a:solidFill>
              <a:srgbClr val="1F3A5F"/>
            </a:solidFill>
            <a:prstDash val="solid"/>
          </a:ln>
        </p:spPr>
      </p:sp>
      <p:sp>
        <p:nvSpPr>
          <p:cNvPr id="35" name="Text 33"/>
          <p:cNvSpPr txBox="1"/>
          <p:nvPr/>
        </p:nvSpPr>
        <p:spPr>
          <a:xfrm>
            <a:off x="548640" y="5650992"/>
            <a:ext cx="11064240"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AI informs.  Humans decide.  Leaders own.</a:t>
            </a:r>
            <a:endParaRPr lang="en-US" sz="2000" dirty="0"/>
          </a:p>
        </p:txBody>
      </p:sp>
      <p:sp>
        <p:nvSpPr>
          <p:cNvPr id="25" name="Slide Number Placeholder 0"/>
          <p:cNvSpPr>
            <a:spLocks noGrp="1"/>
          </p:cNvSpPr>
          <p:nvPr>
            <p:ph type="sldNum" sz="quarter" idx="4294967295"/>
          </p:nvPr>
        </p:nvSpPr>
        <p:spPr>
          <a:xfrm>
            <a:off x="11247120" y="6419088"/>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270"/>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HRHS Advisory">
  <a:themeElements>
    <a:clrScheme name="HRHS Advisory">
      <a:dk1>
        <a:srgbClr val="1B2430"/>
      </a:dk1>
      <a:lt1>
        <a:srgbClr val="FFFFFF"/>
      </a:lt1>
      <a:dk2>
        <a:srgbClr val="1F3A5F"/>
      </a:dk2>
      <a:lt2>
        <a:srgbClr val="EEF2F7"/>
      </a:lt2>
      <a:accent1>
        <a:srgbClr val="1F3A5F"/>
      </a:accent1>
      <a:accent2>
        <a:srgbClr val="C2660A"/>
      </a:accent2>
      <a:accent3>
        <a:srgbClr val="2E7D6E"/>
      </a:accent3>
      <a:accent4>
        <a:srgbClr val="8A94A6"/>
      </a:accent4>
      <a:accent5>
        <a:srgbClr val="B23B3B"/>
      </a:accent5>
      <a:accent6>
        <a:srgbClr val="D9E2EC"/>
      </a:accent6>
      <a:hlink>
        <a:srgbClr val="1F3A5F"/>
      </a:hlink>
      <a:folHlink>
        <a:srgbClr val="5A6270"/>
      </a:folHlink>
    </a:clrScheme>
    <a:fontScheme name="HRHS Advis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HRHS Enterprise AI: From Strategic Decision to Engineering Execution</dc:title>
  <dc:subject>PptxGenJS Presentation</dc:subject>
  <dc:creator>Reginal Campbell, PMP</dc:creator>
  <cp:lastModifiedBy>Reginal Campbell, PMP</cp:lastModifiedBy>
  <cp:revision>1</cp:revision>
  <dcterms:created xsi:type="dcterms:W3CDTF">2026-10-31T10:39:11Z</dcterms:created>
  <dcterms:modified xsi:type="dcterms:W3CDTF">2026-10-31T10:39:11Z</dcterms:modified>
</cp:coreProperties>
</file>